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.png"/><Relationship Id="rId8" Type="http://schemas.openxmlformats.org/officeDocument/2006/relationships/image" Target="../media/image3.png"/><Relationship Id="rId9" Type="http://schemas.openxmlformats.org/officeDocument/2006/relationships/image" Target="../media/image4.png"/><Relationship Id="rId10" Type="http://schemas.openxmlformats.org/officeDocument/2006/relationships/image" Target="../media/image5.png"/><Relationship Id="rId11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image" Target="../media/image2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image" Target="../media/image20.png"/><Relationship Id="rId5" Type="http://schemas.openxmlformats.org/officeDocument/2006/relationships/image" Target="../media/image38.png"/><Relationship Id="rId6" Type="http://schemas.openxmlformats.org/officeDocument/2006/relationships/image" Target="../media/image22.png"/><Relationship Id="rId7" Type="http://schemas.openxmlformats.org/officeDocument/2006/relationships/image" Target="../media/image19.png"/><Relationship Id="rId8" Type="http://schemas.openxmlformats.org/officeDocument/2006/relationships/image" Target="../media/image3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image" Target="../media/image24.png"/><Relationship Id="rId4" Type="http://schemas.openxmlformats.org/officeDocument/2006/relationships/image" Target="../media/image4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5.png"/><Relationship Id="rId4" Type="http://schemas.openxmlformats.org/officeDocument/2006/relationships/image" Target="../media/image9.png"/><Relationship Id="rId5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9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75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181518" y="4388524"/>
            <a:ext cx="19050" cy="19050"/>
          </a:xfrm>
          <a:prstGeom prst="rect">
            <a:avLst/>
          </a:prstGeom>
          <a:solidFill>
            <a:srgbClr val="506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17029" y="2434023"/>
            <a:ext cx="19050" cy="19050"/>
          </a:xfrm>
          <a:prstGeom prst="rect">
            <a:avLst/>
          </a:prstGeom>
          <a:solidFill>
            <a:srgbClr val="506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035237" y="1216288"/>
            <a:ext cx="19050" cy="19050"/>
          </a:xfrm>
          <a:prstGeom prst="rect">
            <a:avLst/>
          </a:prstGeom>
          <a:solidFill>
            <a:srgbClr val="506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36816" y="6631426"/>
            <a:ext cx="19050" cy="19050"/>
          </a:xfrm>
          <a:prstGeom prst="rect">
            <a:avLst/>
          </a:prstGeom>
          <a:solidFill>
            <a:srgbClr val="506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52343" y="5162236"/>
            <a:ext cx="19050" cy="19050"/>
          </a:xfrm>
          <a:prstGeom prst="rect">
            <a:avLst/>
          </a:prstGeom>
          <a:solidFill>
            <a:srgbClr val="506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069063" y="3074993"/>
            <a:ext cx="19050" cy="19050"/>
          </a:xfrm>
          <a:prstGeom prst="rect">
            <a:avLst/>
          </a:prstGeom>
          <a:solidFill>
            <a:srgbClr val="506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88062" y="1552192"/>
            <a:ext cx="19050" cy="19050"/>
          </a:xfrm>
          <a:prstGeom prst="rect">
            <a:avLst/>
          </a:prstGeom>
          <a:solidFill>
            <a:srgbClr val="506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253548" y="4548092"/>
            <a:ext cx="19050" cy="1905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58245" y="2504409"/>
            <a:ext cx="19050" cy="1905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252423" y="2985377"/>
            <a:ext cx="19050" cy="1905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53137" y="5998171"/>
            <a:ext cx="19050" cy="19050"/>
          </a:xfrm>
          <a:prstGeom prst="rect">
            <a:avLst/>
          </a:prstGeom>
          <a:solidFill>
            <a:srgbClr val="506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96819" y="2366699"/>
            <a:ext cx="19050" cy="19050"/>
          </a:xfrm>
          <a:prstGeom prst="rect">
            <a:avLst/>
          </a:prstGeom>
          <a:solidFill>
            <a:srgbClr val="506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68525" y="2967886"/>
            <a:ext cx="19050" cy="19050"/>
          </a:xfrm>
          <a:prstGeom prst="rect">
            <a:avLst/>
          </a:prstGeom>
          <a:solidFill>
            <a:srgbClr val="506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893317" y="4773132"/>
            <a:ext cx="19050" cy="19050"/>
          </a:xfrm>
          <a:prstGeom prst="rect">
            <a:avLst/>
          </a:prstGeom>
          <a:solidFill>
            <a:srgbClr val="506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188775" y="4806366"/>
            <a:ext cx="19050" cy="1905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11850" y="3977835"/>
            <a:ext cx="19050" cy="1905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915063" y="3761496"/>
            <a:ext cx="19050" cy="19050"/>
          </a:xfrm>
          <a:prstGeom prst="rect">
            <a:avLst/>
          </a:prstGeom>
          <a:solidFill>
            <a:srgbClr val="506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37070" y="2881685"/>
            <a:ext cx="19050" cy="19050"/>
          </a:xfrm>
          <a:prstGeom prst="rect">
            <a:avLst/>
          </a:prstGeom>
          <a:solidFill>
            <a:srgbClr val="506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729742" y="4633533"/>
            <a:ext cx="19050" cy="19050"/>
          </a:xfrm>
          <a:prstGeom prst="rect">
            <a:avLst/>
          </a:prstGeom>
          <a:solidFill>
            <a:srgbClr val="506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75044" y="12360"/>
            <a:ext cx="19050" cy="19050"/>
          </a:xfrm>
          <a:prstGeom prst="rect">
            <a:avLst/>
          </a:prstGeom>
          <a:solidFill>
            <a:srgbClr val="506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32174" y="2239443"/>
            <a:ext cx="19050" cy="19050"/>
          </a:xfrm>
          <a:prstGeom prst="rect">
            <a:avLst/>
          </a:prstGeom>
          <a:solidFill>
            <a:srgbClr val="506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39264" y="6204460"/>
            <a:ext cx="19050" cy="19050"/>
          </a:xfrm>
          <a:prstGeom prst="rect">
            <a:avLst/>
          </a:prstGeom>
          <a:solidFill>
            <a:srgbClr val="506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6081" y="2456749"/>
            <a:ext cx="19050" cy="19050"/>
          </a:xfrm>
          <a:prstGeom prst="rect">
            <a:avLst/>
          </a:prstGeom>
          <a:solidFill>
            <a:srgbClr val="506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831095" y="3888827"/>
            <a:ext cx="19050" cy="19050"/>
          </a:xfrm>
          <a:prstGeom prst="rect">
            <a:avLst/>
          </a:prstGeom>
          <a:solidFill>
            <a:srgbClr val="506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438958" y="6573148"/>
            <a:ext cx="19050" cy="19050"/>
          </a:xfrm>
          <a:prstGeom prst="rect">
            <a:avLst/>
          </a:prstGeom>
          <a:solidFill>
            <a:srgbClr val="506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570255" y="1099161"/>
            <a:ext cx="19050" cy="19050"/>
          </a:xfrm>
          <a:prstGeom prst="rect">
            <a:avLst/>
          </a:prstGeom>
          <a:solidFill>
            <a:srgbClr val="506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88119" y="2041691"/>
            <a:ext cx="19050" cy="1905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90697" y="3342335"/>
            <a:ext cx="19050" cy="1905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56759" y="4144397"/>
            <a:ext cx="19050" cy="19050"/>
          </a:xfrm>
          <a:prstGeom prst="rect">
            <a:avLst/>
          </a:prstGeom>
          <a:solidFill>
            <a:srgbClr val="506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31867" y="3868075"/>
            <a:ext cx="19050" cy="19050"/>
          </a:xfrm>
          <a:prstGeom prst="rect">
            <a:avLst/>
          </a:prstGeom>
          <a:solidFill>
            <a:srgbClr val="506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1196814" y="1291067"/>
            <a:ext cx="19050" cy="19050"/>
          </a:xfrm>
          <a:prstGeom prst="rect">
            <a:avLst/>
          </a:prstGeom>
          <a:solidFill>
            <a:srgbClr val="506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603722" y="4382442"/>
            <a:ext cx="19050" cy="19050"/>
          </a:xfrm>
          <a:prstGeom prst="rect">
            <a:avLst/>
          </a:prstGeom>
          <a:solidFill>
            <a:srgbClr val="506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657399" y="6290591"/>
            <a:ext cx="19050" cy="1905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306677" y="5584078"/>
            <a:ext cx="19050" cy="1905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504089" y="2762631"/>
            <a:ext cx="19050" cy="19050"/>
          </a:xfrm>
          <a:prstGeom prst="rect">
            <a:avLst/>
          </a:prstGeom>
          <a:solidFill>
            <a:srgbClr val="506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25552" y="4161533"/>
            <a:ext cx="19050" cy="19050"/>
          </a:xfrm>
          <a:prstGeom prst="rect">
            <a:avLst/>
          </a:prstGeom>
          <a:solidFill>
            <a:srgbClr val="506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660625" y="2203733"/>
            <a:ext cx="19050" cy="19050"/>
          </a:xfrm>
          <a:prstGeom prst="rect">
            <a:avLst/>
          </a:prstGeom>
          <a:solidFill>
            <a:srgbClr val="506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122656" y="4585209"/>
            <a:ext cx="19050" cy="1905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413574" y="224382"/>
            <a:ext cx="19050" cy="1905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763582" y="1588986"/>
            <a:ext cx="19050" cy="19050"/>
          </a:xfrm>
          <a:prstGeom prst="rect">
            <a:avLst/>
          </a:prstGeom>
          <a:solidFill>
            <a:srgbClr val="506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041270" y="6043174"/>
            <a:ext cx="19050" cy="19050"/>
          </a:xfrm>
          <a:prstGeom prst="rect">
            <a:avLst/>
          </a:prstGeom>
          <a:solidFill>
            <a:srgbClr val="506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885236" y="2151126"/>
            <a:ext cx="19050" cy="1905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085329" y="5621191"/>
            <a:ext cx="19050" cy="19050"/>
          </a:xfrm>
          <a:prstGeom prst="rect">
            <a:avLst/>
          </a:prstGeom>
          <a:solidFill>
            <a:srgbClr val="506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806591" y="6573256"/>
            <a:ext cx="19050" cy="19050"/>
          </a:xfrm>
          <a:prstGeom prst="rect">
            <a:avLst/>
          </a:prstGeom>
          <a:solidFill>
            <a:srgbClr val="506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083238" y="6100179"/>
            <a:ext cx="19050" cy="1905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926626" y="4919891"/>
            <a:ext cx="19050" cy="19050"/>
          </a:xfrm>
          <a:prstGeom prst="rect">
            <a:avLst/>
          </a:prstGeom>
          <a:solidFill>
            <a:srgbClr val="506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191328" y="4723754"/>
            <a:ext cx="19050" cy="19050"/>
          </a:xfrm>
          <a:prstGeom prst="rect">
            <a:avLst/>
          </a:prstGeom>
          <a:solidFill>
            <a:srgbClr val="506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990804" y="697360"/>
            <a:ext cx="19050" cy="19050"/>
          </a:xfrm>
          <a:prstGeom prst="rect">
            <a:avLst/>
          </a:prstGeom>
          <a:solidFill>
            <a:srgbClr val="506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1746512" y="1484918"/>
            <a:ext cx="19050" cy="1905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482635" y="692526"/>
            <a:ext cx="19050" cy="1905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1148770" y="2186207"/>
            <a:ext cx="19050" cy="19050"/>
          </a:xfrm>
          <a:prstGeom prst="rect">
            <a:avLst/>
          </a:prstGeom>
          <a:solidFill>
            <a:srgbClr val="506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2910703" y="4581006"/>
            <a:ext cx="19050" cy="1905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629115" y="2900563"/>
            <a:ext cx="19050" cy="1905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244347" y="3801269"/>
            <a:ext cx="19050" cy="19050"/>
          </a:xfrm>
          <a:prstGeom prst="rect">
            <a:avLst/>
          </a:prstGeom>
          <a:solidFill>
            <a:srgbClr val="506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2933639" y="5358607"/>
            <a:ext cx="19050" cy="19050"/>
          </a:xfrm>
          <a:prstGeom prst="rect">
            <a:avLst/>
          </a:prstGeom>
          <a:solidFill>
            <a:srgbClr val="506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14400" y="1371600"/>
            <a:ext cx="10332720" cy="4754880"/>
          </a:xfrm>
          <a:prstGeom prst="rect">
            <a:avLst/>
          </a:prstGeom>
          <a:solidFill>
            <a:srgbClr val="111A2E"/>
          </a:solidFill>
          <a:ln w="9525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14400" y="1371600"/>
            <a:ext cx="50800" cy="47548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0" name="Picture 5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1554480"/>
            <a:ext cx="1005840" cy="1005840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1280160" y="1600200"/>
            <a:ext cx="8229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>
                <a:solidFill>
                  <a:srgbClr val="00D4FF"/>
                </a:solidFill>
                <a:latin typeface="Calibri"/>
              </a:rPr>
              <a:t>AEGIS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280160" y="26974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0F4FF"/>
                </a:solidFill>
                <a:latin typeface="Calibri"/>
              </a:rPr>
              <a:t>ORBITAL DISASTER INTELLIGENCE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280160" y="3246120"/>
            <a:ext cx="6858000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280160" y="3337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8A9BC4"/>
                </a:solidFill>
                <a:latin typeface="Calibri"/>
              </a:rPr>
              <a:t>Transformando Dados Orbitais em Alertas que Salvam Vidas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280160" y="38862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06088"/>
                </a:solidFill>
                <a:latin typeface="Calibri"/>
              </a:rPr>
              <a:t>Global Solution 2026  ·  FIAP 2TSCPW  ·  Indústria Espacial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280160" y="4251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A9BC4"/>
                </a:solidFill>
                <a:latin typeface="Calibri"/>
              </a:rPr>
              <a:t>Emerson dos Santos Silva  —  RM562033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280160" y="455371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A9BC4"/>
                </a:solidFill>
                <a:latin typeface="Calibri"/>
              </a:rPr>
              <a:t>Pedro Henrique Soares  —  RM562283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280160" y="49834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06088"/>
                </a:solidFill>
                <a:latin typeface="Calibri"/>
              </a:rPr>
              <a:t>Junho de 2026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503920" y="4754880"/>
            <a:ext cx="822960" cy="548640"/>
          </a:xfrm>
          <a:prstGeom prst="rect">
            <a:avLst/>
          </a:prstGeom>
          <a:solidFill>
            <a:srgbClr val="111A2E"/>
          </a:solidFill>
          <a:ln w="9525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503920" y="4773168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0D4FF"/>
                </a:solidFill>
                <a:latin typeface="Calibri"/>
              </a:rPr>
              <a:t>ODS 11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503920" y="502920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8A9BC4"/>
                </a:solidFill>
                <a:latin typeface="Calibri"/>
              </a:rPr>
              <a:t>Cidades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418320" y="4754880"/>
            <a:ext cx="822960" cy="548640"/>
          </a:xfrm>
          <a:prstGeom prst="rect">
            <a:avLst/>
          </a:prstGeom>
          <a:solidFill>
            <a:srgbClr val="111A2E"/>
          </a:solidFill>
          <a:ln w="9525">
            <a:solidFill>
              <a:srgbClr val="5EE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418320" y="4773168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5EE0C2"/>
                </a:solidFill>
                <a:latin typeface="Calibri"/>
              </a:rPr>
              <a:t>ODS 13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418320" y="502920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8A9BC4"/>
                </a:solidFill>
                <a:latin typeface="Calibri"/>
              </a:rPr>
              <a:t>Clima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0332720" y="4754880"/>
            <a:ext cx="822960" cy="548640"/>
          </a:xfrm>
          <a:prstGeom prst="rect">
            <a:avLst/>
          </a:prstGeom>
          <a:solidFill>
            <a:srgbClr val="111A2E"/>
          </a:solidFill>
          <a:ln w="9525">
            <a:solidFill>
              <a:srgbClr val="FFB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0332720" y="4773168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B547"/>
                </a:solidFill>
                <a:latin typeface="Calibri"/>
              </a:rPr>
              <a:t>ODS 9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332720" y="502920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8A9BC4"/>
                </a:solidFill>
                <a:latin typeface="Calibri"/>
              </a:rPr>
              <a:t>Inovação</a:t>
            </a:r>
          </a:p>
        </p:txBody>
      </p:sp>
      <p:pic>
        <p:nvPicPr>
          <p:cNvPr id="78" name="Picture 7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5669280"/>
            <a:ext cx="457200" cy="457200"/>
          </a:xfrm>
          <a:prstGeom prst="rect">
            <a:avLst/>
          </a:prstGeom>
        </p:spPr>
      </p:pic>
      <p:pic>
        <p:nvPicPr>
          <p:cNvPr id="79" name="Picture 7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4519" y="5669280"/>
            <a:ext cx="457200" cy="457200"/>
          </a:xfrm>
          <a:prstGeom prst="rect">
            <a:avLst/>
          </a:prstGeom>
        </p:spPr>
      </p:pic>
      <p:pic>
        <p:nvPicPr>
          <p:cNvPr id="80" name="Picture 7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68880" y="5669280"/>
            <a:ext cx="457200" cy="457200"/>
          </a:xfrm>
          <a:prstGeom prst="rect">
            <a:avLst/>
          </a:prstGeom>
        </p:spPr>
      </p:pic>
      <p:pic>
        <p:nvPicPr>
          <p:cNvPr id="81" name="Picture 8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63240" y="5669280"/>
            <a:ext cx="457200" cy="457200"/>
          </a:xfrm>
          <a:prstGeom prst="rect">
            <a:avLst/>
          </a:prstGeom>
        </p:spPr>
      </p:pic>
      <p:pic>
        <p:nvPicPr>
          <p:cNvPr id="82" name="Picture 8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57600" y="566928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9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75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9144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spc="250">
                <a:solidFill>
                  <a:srgbClr val="506088"/>
                </a:solidFill>
                <a:latin typeface="Calibri"/>
              </a:rPr>
              <a:t>CENÁRIO ATUAL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91440"/>
            <a:ext cx="6035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spc="180">
                <a:solidFill>
                  <a:srgbClr val="506088"/>
                </a:solidFill>
                <a:latin typeface="Calibri"/>
              </a:rPr>
              <a:t>AEGIS · ORBITAL DISASTER INTELLIGENCE · 2026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365760"/>
            <a:ext cx="502920" cy="502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4048" y="38404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D4FF"/>
                </a:solidFill>
                <a:latin typeface="Calibri"/>
              </a:rPr>
              <a:t>O Espaço é a Nova Fronteira de Dados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98755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A9BC4"/>
                </a:solidFill>
                <a:latin typeface="Calibri"/>
              </a:rPr>
              <a:t>A economia espacial gera hoje mais valor do que a maioria das indústrias terrestres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" y="1508760"/>
            <a:ext cx="2267712" cy="1234440"/>
          </a:xfrm>
          <a:prstGeom prst="rect">
            <a:avLst/>
          </a:prstGeom>
          <a:solidFill>
            <a:srgbClr val="111A2E"/>
          </a:solidFill>
          <a:ln w="9525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1618488"/>
            <a:ext cx="226771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0D4FF"/>
                </a:solidFill>
                <a:latin typeface="Calibri"/>
              </a:rPr>
              <a:t>15.000+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" y="2103120"/>
            <a:ext cx="22677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8A9BC4"/>
                </a:solidFill>
                <a:latin typeface="Calibri"/>
              </a:rPr>
              <a:t>satélites ativos
em órbita (2026)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15768" y="1508760"/>
            <a:ext cx="2267712" cy="1234440"/>
          </a:xfrm>
          <a:prstGeom prst="rect">
            <a:avLst/>
          </a:prstGeom>
          <a:solidFill>
            <a:srgbClr val="111A2E"/>
          </a:solidFill>
          <a:ln w="9525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15768" y="1618488"/>
            <a:ext cx="226771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5EE0C2"/>
                </a:solidFill>
                <a:latin typeface="Calibri"/>
              </a:rPr>
              <a:t>USD 613 bi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15768" y="2103120"/>
            <a:ext cx="22677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8A9BC4"/>
                </a:solidFill>
                <a:latin typeface="Calibri"/>
              </a:rPr>
              <a:t>valor economia
espacial (2024)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84064" y="1508760"/>
            <a:ext cx="2267712" cy="1234440"/>
          </a:xfrm>
          <a:prstGeom prst="rect">
            <a:avLst/>
          </a:prstGeom>
          <a:solidFill>
            <a:srgbClr val="111A2E"/>
          </a:solidFill>
          <a:ln w="9525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84064" y="1618488"/>
            <a:ext cx="226771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B547"/>
                </a:solidFill>
                <a:latin typeface="Calibri"/>
              </a:rPr>
              <a:t>USD 1 tri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84064" y="2103120"/>
            <a:ext cx="22677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8A9BC4"/>
                </a:solidFill>
                <a:latin typeface="Calibri"/>
              </a:rPr>
              <a:t>projeção
até 2034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52360" y="1508760"/>
            <a:ext cx="2267712" cy="1234440"/>
          </a:xfrm>
          <a:prstGeom prst="rect">
            <a:avLst/>
          </a:prstGeom>
          <a:solidFill>
            <a:srgbClr val="111A2E"/>
          </a:solidFill>
          <a:ln w="9525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52360" y="1618488"/>
            <a:ext cx="226771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3FA9FF"/>
                </a:solidFill>
                <a:latin typeface="Calibri"/>
              </a:rPr>
              <a:t>12 TB/dia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52360" y="2103120"/>
            <a:ext cx="22677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8A9BC4"/>
                </a:solidFill>
                <a:latin typeface="Calibri"/>
              </a:rPr>
              <a:t>dados NASA
+ Copernicus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820656" y="1508760"/>
            <a:ext cx="2267712" cy="1234440"/>
          </a:xfrm>
          <a:prstGeom prst="rect">
            <a:avLst/>
          </a:prstGeom>
          <a:solidFill>
            <a:srgbClr val="111A2E"/>
          </a:solidFill>
          <a:ln w="9525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20656" y="1618488"/>
            <a:ext cx="226771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6B35"/>
                </a:solidFill>
                <a:latin typeface="Calibri"/>
              </a:rPr>
              <a:t>&lt; 3%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20656" y="2103120"/>
            <a:ext cx="22677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8A9BC4"/>
                </a:solidFill>
                <a:latin typeface="Calibri"/>
              </a:rPr>
              <a:t>convertidos em
alertas em tempo real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7472" y="2907792"/>
            <a:ext cx="11503152" cy="2011680"/>
          </a:xfrm>
          <a:prstGeom prst="rect">
            <a:avLst/>
          </a:prstGeom>
          <a:solidFill>
            <a:srgbClr val="111A2E"/>
          </a:solidFill>
          <a:ln w="9525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47472" y="2907792"/>
            <a:ext cx="11503152" cy="34747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4632" y="2990088"/>
            <a:ext cx="113202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060912"/>
                </a:solidFill>
                <a:latin typeface="Calibri"/>
              </a:rPr>
              <a:t>PRINCIPAIS FONTES ORBITAIS E O GAP DE UTILIZAÇÃO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" y="3410712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0F4FF"/>
                </a:solidFill>
                <a:latin typeface="Calibri"/>
              </a:rPr>
              <a:t>›  Copernicus Programme (ESA/UE): clima, solo, oceanos e atmosfera — open data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" y="3721608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0F4FF"/>
                </a:solidFill>
                <a:latin typeface="Calibri"/>
              </a:rPr>
              <a:t>›  NASA EarthData: MODIS, VIIRS, Landsat, SMAP — gratuitamente acessíveis via API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" y="4032504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0F4FF"/>
                </a:solidFill>
                <a:latin typeface="Calibri"/>
              </a:rPr>
              <a:t>›  INPE (Brasil): PRODES + DETER + BDQueimadas — desmatamento e focos de incêndio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" y="434340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0F4FF"/>
                </a:solidFill>
                <a:latin typeface="Calibri"/>
              </a:rPr>
              <a:t>›  NOAA: eventos climáticos extremos, furacões, temperatura oceânica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4632" y="4654296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0F4FF"/>
                </a:solidFill>
                <a:latin typeface="Calibri"/>
              </a:rPr>
              <a:t>›  Menos de 3% desses dados chegam a quem decide em tempo real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7472" y="5029200"/>
            <a:ext cx="2834640" cy="1508760"/>
          </a:xfrm>
          <a:prstGeom prst="rect">
            <a:avLst/>
          </a:prstGeom>
          <a:solidFill>
            <a:srgbClr val="111A2E"/>
          </a:solidFill>
          <a:ln w="9525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5120640"/>
            <a:ext cx="411480" cy="41148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941832" y="523036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D4FF"/>
                </a:solidFill>
                <a:latin typeface="Calibri"/>
              </a:rPr>
              <a:t>NASA EONET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1832" y="555955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506088"/>
                </a:solidFill>
                <a:latin typeface="Calibri"/>
              </a:rPr>
              <a:t>Dados abertos · sem custo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73552" y="5029200"/>
            <a:ext cx="2834640" cy="1508760"/>
          </a:xfrm>
          <a:prstGeom prst="rect">
            <a:avLst/>
          </a:prstGeom>
          <a:solidFill>
            <a:srgbClr val="111A2E"/>
          </a:solidFill>
          <a:ln w="9525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4992" y="5120640"/>
            <a:ext cx="411480" cy="41148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3867912" y="523036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FA9FF"/>
                </a:solidFill>
                <a:latin typeface="Calibri"/>
              </a:rPr>
              <a:t>Copernicus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67912" y="555955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506088"/>
                </a:solidFill>
                <a:latin typeface="Calibri"/>
              </a:rPr>
              <a:t>Dados abertos · sem custo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99632" y="5029200"/>
            <a:ext cx="2834640" cy="1508760"/>
          </a:xfrm>
          <a:prstGeom prst="rect">
            <a:avLst/>
          </a:prstGeom>
          <a:solidFill>
            <a:srgbClr val="111A2E"/>
          </a:solidFill>
          <a:ln w="9525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1072" y="5120640"/>
            <a:ext cx="411480" cy="41148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6793992" y="523036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EE0C2"/>
                </a:solidFill>
                <a:latin typeface="Calibri"/>
              </a:rPr>
              <a:t>INPE PRODES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93992" y="555955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506088"/>
                </a:solidFill>
                <a:latin typeface="Calibri"/>
              </a:rPr>
              <a:t>Dados abertos · sem custo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125712" y="5029200"/>
            <a:ext cx="2834640" cy="1508760"/>
          </a:xfrm>
          <a:prstGeom prst="rect">
            <a:avLst/>
          </a:prstGeom>
          <a:solidFill>
            <a:srgbClr val="111A2E"/>
          </a:solidFill>
          <a:ln w="9525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17152" y="5120640"/>
            <a:ext cx="411480" cy="411480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9720072" y="523036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B547"/>
                </a:solidFill>
                <a:latin typeface="Calibri"/>
              </a:rPr>
              <a:t>NOAA Climate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20072" y="555955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506088"/>
                </a:solidFill>
                <a:latin typeface="Calibri"/>
              </a:rPr>
              <a:t>Dados abertos · sem custo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9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75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9144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spc="250">
                <a:solidFill>
                  <a:srgbClr val="506088"/>
                </a:solidFill>
                <a:latin typeface="Calibri"/>
              </a:rPr>
              <a:t>O 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91440"/>
            <a:ext cx="6035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spc="180">
                <a:solidFill>
                  <a:srgbClr val="506088"/>
                </a:solidFill>
                <a:latin typeface="Calibri"/>
              </a:rPr>
              <a:t>AEGIS · ORBITAL DISASTER INTELLIGENCE · 2026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365760"/>
            <a:ext cx="502920" cy="502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4048" y="38404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D4FF"/>
                </a:solidFill>
                <a:latin typeface="Calibri"/>
              </a:rPr>
              <a:t>Latência Fatal: 6 a 24 Horas de Atraso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98755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A9BC4"/>
                </a:solidFill>
                <a:latin typeface="Calibri"/>
              </a:rPr>
              <a:t>Dados orbitais existem — o problema é transformá-los em decisão a tempo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" y="1417320"/>
            <a:ext cx="2267712" cy="2286000"/>
          </a:xfrm>
          <a:prstGeom prst="rect">
            <a:avLst/>
          </a:prstGeom>
          <a:solidFill>
            <a:srgbClr val="111A2E"/>
          </a:solidFill>
          <a:ln w="9525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0432" y="1508760"/>
            <a:ext cx="502920" cy="502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47472" y="2103120"/>
            <a:ext cx="22677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00D4FF"/>
                </a:solidFill>
                <a:latin typeface="Calibri"/>
              </a:rPr>
              <a:t>DETECÇÃO
ORBITAL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" y="2697480"/>
            <a:ext cx="22677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D4FF"/>
                </a:solidFill>
                <a:latin typeface="Calibri"/>
              </a:rPr>
              <a:t>0h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42032" y="2395728"/>
            <a:ext cx="201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5385A"/>
                </a:solidFill>
                <a:latin typeface="Calibr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15768" y="1417320"/>
            <a:ext cx="2267712" cy="2286000"/>
          </a:xfrm>
          <a:prstGeom prst="rect">
            <a:avLst/>
          </a:prstGeom>
          <a:solidFill>
            <a:srgbClr val="111A2E"/>
          </a:solidFill>
          <a:ln w="9525">
            <a:solidFill>
              <a:srgbClr val="5060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8728" y="1508760"/>
            <a:ext cx="502920" cy="5029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715768" y="2103120"/>
            <a:ext cx="22677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506088"/>
                </a:solidFill>
                <a:latin typeface="Calibri"/>
              </a:rPr>
              <a:t>PROCESSAMENTO
TÉCNICO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15768" y="2697480"/>
            <a:ext cx="22677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506088"/>
                </a:solidFill>
                <a:latin typeface="Calibri"/>
              </a:rPr>
              <a:t>+2–6h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10327" y="2395728"/>
            <a:ext cx="201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5385A"/>
                </a:solidFill>
                <a:latin typeface="Calibri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84064" y="1417320"/>
            <a:ext cx="2267712" cy="2286000"/>
          </a:xfrm>
          <a:prstGeom prst="rect">
            <a:avLst/>
          </a:prstGeom>
          <a:solidFill>
            <a:srgbClr val="111A2E"/>
          </a:solidFill>
          <a:ln w="9525">
            <a:solidFill>
              <a:srgbClr val="5060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7024" y="1508760"/>
            <a:ext cx="502920" cy="5029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084064" y="2103120"/>
            <a:ext cx="22677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506088"/>
                </a:solidFill>
                <a:latin typeface="Calibri"/>
              </a:rPr>
              <a:t>RELATÓRIO
MANUAL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84064" y="2697480"/>
            <a:ext cx="22677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506088"/>
                </a:solidFill>
                <a:latin typeface="Calibri"/>
              </a:rPr>
              <a:t>+4–12h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78623" y="2395728"/>
            <a:ext cx="201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5385A"/>
                </a:solidFill>
                <a:latin typeface="Calibri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52360" y="1417320"/>
            <a:ext cx="2267712" cy="2286000"/>
          </a:xfrm>
          <a:prstGeom prst="rect">
            <a:avLst/>
          </a:prstGeom>
          <a:solidFill>
            <a:srgbClr val="111A2E"/>
          </a:solidFill>
          <a:ln w="9525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75320" y="1508760"/>
            <a:ext cx="502920" cy="50292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452360" y="2103120"/>
            <a:ext cx="22677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FF6B35"/>
                </a:solidFill>
                <a:latin typeface="Calibri"/>
              </a:rPr>
              <a:t>ALERTA
HUMANO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2360" y="2697480"/>
            <a:ext cx="22677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6B35"/>
                </a:solidFill>
                <a:latin typeface="Calibri"/>
              </a:rPr>
              <a:t>+6–24h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46919" y="2395728"/>
            <a:ext cx="201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5385A"/>
                </a:solidFill>
                <a:latin typeface="Calibri"/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820656" y="1417320"/>
            <a:ext cx="2267712" cy="2286000"/>
          </a:xfrm>
          <a:prstGeom prst="rect">
            <a:avLst/>
          </a:prstGeom>
          <a:solidFill>
            <a:srgbClr val="111A2E"/>
          </a:solidFill>
          <a:ln w="9525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43616" y="1508760"/>
            <a:ext cx="502920" cy="50292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9820656" y="2103120"/>
            <a:ext cx="22677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EF4444"/>
                </a:solidFill>
                <a:latin typeface="Calibri"/>
              </a:rPr>
              <a:t>RESPOSTA
CIVIL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20656" y="2697480"/>
            <a:ext cx="22677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EF4444"/>
                </a:solidFill>
                <a:latin typeface="Calibri"/>
              </a:rPr>
              <a:t>TARDE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47472" y="3886200"/>
            <a:ext cx="2834640" cy="1325880"/>
          </a:xfrm>
          <a:prstGeom prst="rect">
            <a:avLst/>
          </a:prstGeom>
          <a:solidFill>
            <a:srgbClr val="111A2E"/>
          </a:solidFill>
          <a:ln w="9525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7472" y="3995928"/>
            <a:ext cx="2834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6B35"/>
                </a:solidFill>
                <a:latin typeface="Calibri"/>
              </a:rPr>
              <a:t>USD 2,8 tri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7472" y="448056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8A9BC4"/>
                </a:solidFill>
                <a:latin typeface="Calibri"/>
              </a:rPr>
              <a:t>Custo desastres
climat. — última
década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310128" y="3886200"/>
            <a:ext cx="2834640" cy="1325880"/>
          </a:xfrm>
          <a:prstGeom prst="rect">
            <a:avLst/>
          </a:prstGeom>
          <a:solidFill>
            <a:srgbClr val="111A2E"/>
          </a:solidFill>
          <a:ln w="9525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10128" y="3995928"/>
            <a:ext cx="2834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0D4FF"/>
                </a:solidFill>
                <a:latin typeface="Calibri"/>
              </a:rPr>
              <a:t>180 milhões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10128" y="448056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8A9BC4"/>
                </a:solidFill>
                <a:latin typeface="Calibri"/>
              </a:rPr>
              <a:t>Pessoas afetadas
por desastres
em 2025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72784" y="3886200"/>
            <a:ext cx="2834640" cy="1325880"/>
          </a:xfrm>
          <a:prstGeom prst="rect">
            <a:avLst/>
          </a:prstGeom>
          <a:solidFill>
            <a:srgbClr val="111A2E"/>
          </a:solidFill>
          <a:ln w="9525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72784" y="3995928"/>
            <a:ext cx="2834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5EE0C2"/>
                </a:solidFill>
                <a:latin typeface="Calibri"/>
              </a:rPr>
              <a:t>47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72784" y="448056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8A9BC4"/>
                </a:solidFill>
                <a:latin typeface="Calibri"/>
              </a:rPr>
              <a:t>Grandes desastres
naturais só
em 2025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235440" y="3886200"/>
            <a:ext cx="2834640" cy="1325880"/>
          </a:xfrm>
          <a:prstGeom prst="rect">
            <a:avLst/>
          </a:prstGeom>
          <a:solidFill>
            <a:srgbClr val="111A2E"/>
          </a:solidFill>
          <a:ln w="9525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235440" y="3995928"/>
            <a:ext cx="2834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B547"/>
                </a:solidFill>
                <a:latin typeface="Calibri"/>
              </a:rPr>
              <a:t>18–48h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35440" y="448056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8A9BC4"/>
                </a:solidFill>
                <a:latin typeface="Calibri"/>
              </a:rPr>
              <a:t>Vantagem orbital
sobre alertas
humanos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47472" y="5358384"/>
            <a:ext cx="11503152" cy="457200"/>
          </a:xfrm>
          <a:prstGeom prst="rect">
            <a:avLst/>
          </a:prstGeom>
          <a:solidFill>
            <a:srgbClr val="111A2E"/>
          </a:solidFill>
          <a:ln w="9525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2920" y="5440680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>
                <a:solidFill>
                  <a:srgbClr val="FF6B35"/>
                </a:solidFill>
                <a:latin typeface="Calibri"/>
              </a:rPr>
              <a:t>"Em uma enchente repentina, horas são vidas."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9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75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9144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spc="250">
                <a:solidFill>
                  <a:srgbClr val="506088"/>
                </a:solidFill>
                <a:latin typeface="Calibri"/>
              </a:rPr>
              <a:t>EVIDÊNCIAS — ANÁLISE EXPLORATÓRIA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91440"/>
            <a:ext cx="6035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spc="180">
                <a:solidFill>
                  <a:srgbClr val="506088"/>
                </a:solidFill>
                <a:latin typeface="Calibri"/>
              </a:rPr>
              <a:t>AEGIS · ORBITAL DISASTER INTELLIGENCE · 2026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365760"/>
            <a:ext cx="502920" cy="502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4048" y="38404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D4FF"/>
                </a:solidFill>
                <a:latin typeface="Calibri"/>
              </a:rPr>
              <a:t>O que os Dados da NASA Revelam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98755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A9BC4"/>
                </a:solidFill>
                <a:latin typeface="Calibri"/>
              </a:rPr>
              <a:t>1.200+ eventos rastreados por satélite — NASA EONET v3 API · dados reais, não simulados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325880"/>
            <a:ext cx="11640312" cy="42519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47472" y="5687568"/>
            <a:ext cx="11503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A9BC4"/>
                </a:solidFill>
                <a:latin typeface="Calibri"/>
              </a:rPr>
              <a:t>›  Wildfires + Severe Storms = mais de 60% dos eventos ativos — picos sazonais detectáveis com 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" y="5998464"/>
            <a:ext cx="11503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A9BC4"/>
                </a:solidFill>
                <a:latin typeface="Calibri"/>
              </a:rPr>
              <a:t>›  Hotspots: América do Norte · Sudeste Asiático · Europa Mediterrânea · Brasil (queimadas)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" y="6309360"/>
            <a:ext cx="11503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A9BC4"/>
                </a:solidFill>
                <a:latin typeface="Calibri"/>
              </a:rPr>
              <a:t>›  Sensores MODIS e VIIRS detectam eventos 18–48h antes dos alertas humanos convencionais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9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75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9144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spc="250">
                <a:solidFill>
                  <a:srgbClr val="506088"/>
                </a:solidFill>
                <a:latin typeface="Calibri"/>
              </a:rPr>
              <a:t>A SOLUÇÃO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91440"/>
            <a:ext cx="6035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spc="180">
                <a:solidFill>
                  <a:srgbClr val="506088"/>
                </a:solidFill>
                <a:latin typeface="Calibri"/>
              </a:rPr>
              <a:t>AEGIS · ORBITAL DISASTER INTELLIGENCE · 2026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365760"/>
            <a:ext cx="502920" cy="502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4048" y="38404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D4FF"/>
                </a:solidFill>
                <a:latin typeface="Calibri"/>
              </a:rPr>
              <a:t>AEGIS — Inteligência Orbital em Tempo Real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98755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A9BC4"/>
                </a:solidFill>
                <a:latin typeface="Calibri"/>
              </a:rPr>
              <a:t>Plataforma que transforma dados de satélites em alertas preemptivos de desastres climáticos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" y="1371600"/>
            <a:ext cx="2852928" cy="3337560"/>
          </a:xfrm>
          <a:prstGeom prst="rect">
            <a:avLst/>
          </a:prstGeom>
          <a:solidFill>
            <a:srgbClr val="111A2E"/>
          </a:solidFill>
          <a:ln w="9525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7472" y="1371600"/>
            <a:ext cx="2852928" cy="42062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1408176"/>
            <a:ext cx="329184" cy="32918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59536" y="1435608"/>
            <a:ext cx="2240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060912"/>
                </a:solidFill>
                <a:latin typeface="Calibri"/>
              </a:rPr>
              <a:t>MONITORAMENTO
EM TEMPO REAL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901952"/>
            <a:ext cx="2651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0F4FF"/>
                </a:solidFill>
                <a:latin typeface="Calibri"/>
              </a:rPr>
              <a:t>›  Dashboard com dados NASA EONET ao vivo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432304"/>
            <a:ext cx="2651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0F4FF"/>
                </a:solidFill>
                <a:latin typeface="Calibri"/>
              </a:rPr>
              <a:t>›  5 categorias monitoradas: incêndios,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962656"/>
            <a:ext cx="2651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0F4FF"/>
                </a:solidFill>
                <a:latin typeface="Calibri"/>
              </a:rPr>
              <a:t>›  ciclones, enchentes, terremotos, secas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493008"/>
            <a:ext cx="2651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0F4FF"/>
                </a:solidFill>
                <a:latin typeface="Calibri"/>
              </a:rPr>
              <a:t>›  Mapa D3.js com storm tracks e trajetórias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10128" y="1371600"/>
            <a:ext cx="2852928" cy="3337560"/>
          </a:xfrm>
          <a:prstGeom prst="rect">
            <a:avLst/>
          </a:prstGeom>
          <a:solidFill>
            <a:srgbClr val="111A2E"/>
          </a:solidFill>
          <a:ln w="9525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10128" y="1371600"/>
            <a:ext cx="2852928" cy="42062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1568" y="1408176"/>
            <a:ext cx="329184" cy="32918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822192" y="1435608"/>
            <a:ext cx="2240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060912"/>
                </a:solidFill>
                <a:latin typeface="Calibri"/>
              </a:rPr>
              <a:t>MACHINE LEARNING
PREDITIVO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19856" y="1901952"/>
            <a:ext cx="2651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0F4FF"/>
                </a:solidFill>
                <a:latin typeface="Calibri"/>
              </a:rPr>
              <a:t>›  XGBoost → Risk Score por evento (0–100)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19856" y="2432304"/>
            <a:ext cx="2651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0F4FF"/>
                </a:solidFill>
                <a:latin typeface="Calibri"/>
              </a:rPr>
              <a:t>›  LSTM → Previsão D+1 a D+7 de volume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19856" y="2962656"/>
            <a:ext cx="2651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0F4FF"/>
                </a:solidFill>
                <a:latin typeface="Calibri"/>
              </a:rPr>
              <a:t>›  SHAP → Explicabilidade dos modelos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19856" y="3493008"/>
            <a:ext cx="2651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0F4FF"/>
                </a:solidFill>
                <a:latin typeface="Calibri"/>
              </a:rPr>
              <a:t>›  Feature engineering sobre dados orbitais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72784" y="1371600"/>
            <a:ext cx="2852928" cy="3337560"/>
          </a:xfrm>
          <a:prstGeom prst="rect">
            <a:avLst/>
          </a:prstGeom>
          <a:solidFill>
            <a:srgbClr val="111A2E"/>
          </a:solidFill>
          <a:ln w="9525">
            <a:solidFill>
              <a:srgbClr val="5EE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72784" y="1371600"/>
            <a:ext cx="2852928" cy="420624"/>
          </a:xfrm>
          <a:prstGeom prst="rect">
            <a:avLst/>
          </a:prstGeom>
          <a:solidFill>
            <a:srgbClr val="5EE0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4224" y="1408176"/>
            <a:ext cx="329184" cy="32918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784848" y="1435608"/>
            <a:ext cx="2240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060912"/>
                </a:solidFill>
                <a:latin typeface="Calibri"/>
              </a:rPr>
              <a:t>INTERFACE
PARA GESTORES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82512" y="1901952"/>
            <a:ext cx="2651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0F4FF"/>
                </a:solidFill>
                <a:latin typeface="Calibri"/>
              </a:rPr>
              <a:t>›  Timeline scrubber: navegue D-7 a D+7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82512" y="2432304"/>
            <a:ext cx="2651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0F4FF"/>
                </a:solidFill>
                <a:latin typeface="Calibri"/>
              </a:rPr>
              <a:t>›  Event feed priorizado por severidade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82512" y="2962656"/>
            <a:ext cx="2651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0F4FF"/>
                </a:solidFill>
                <a:latin typeface="Calibri"/>
              </a:rPr>
              <a:t>›  Event card: coordenadas, magnitude,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82512" y="3493008"/>
            <a:ext cx="2651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0F4FF"/>
                </a:solidFill>
                <a:latin typeface="Calibri"/>
              </a:rPr>
              <a:t>›  sparkline 7d, botões de ação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235440" y="1371600"/>
            <a:ext cx="2852928" cy="3337560"/>
          </a:xfrm>
          <a:prstGeom prst="rect">
            <a:avLst/>
          </a:prstGeom>
          <a:solidFill>
            <a:srgbClr val="111A2E"/>
          </a:solidFill>
          <a:ln w="9525">
            <a:solidFill>
              <a:srgbClr val="3F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235440" y="1371600"/>
            <a:ext cx="2852928" cy="420624"/>
          </a:xfrm>
          <a:prstGeom prst="rect">
            <a:avLst/>
          </a:prstGeom>
          <a:solidFill>
            <a:srgbClr val="3FA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6880" y="1408176"/>
            <a:ext cx="329184" cy="329184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9747504" y="1435608"/>
            <a:ext cx="2240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060912"/>
                </a:solidFill>
                <a:latin typeface="Calibri"/>
              </a:rPr>
              <a:t>ARQUITETURA
ESCALÁVEL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45168" y="1901952"/>
            <a:ext cx="2651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0F4FF"/>
                </a:solidFill>
                <a:latin typeface="Calibri"/>
              </a:rPr>
              <a:t>›  Oracle Cloud Infrastructure (OCI)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45168" y="2432304"/>
            <a:ext cx="2651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0F4FF"/>
                </a:solidFill>
                <a:latin typeface="Calibri"/>
              </a:rPr>
              <a:t>›  FastAPI + Docker + OKE (Kubernetes)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45168" y="2962656"/>
            <a:ext cx="2651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0F4FF"/>
                </a:solidFill>
                <a:latin typeface="Calibri"/>
              </a:rPr>
              <a:t>›  Open source · Sem vendor lock-in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45168" y="3493008"/>
            <a:ext cx="2651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0F4FF"/>
                </a:solidFill>
                <a:latin typeface="Calibri"/>
              </a:rPr>
              <a:t>›  Oracle Autonomous DB para histórico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47472" y="4800600"/>
            <a:ext cx="11503152" cy="502920"/>
          </a:xfrm>
          <a:prstGeom prst="rect">
            <a:avLst/>
          </a:prstGeom>
          <a:solidFill>
            <a:srgbClr val="111A2E"/>
          </a:solidFill>
          <a:ln w="9525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920" y="489204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6B35"/>
                </a:solidFill>
                <a:latin typeface="Calibri"/>
              </a:rPr>
              <a:t>Redução de 6–24h para &lt; 5 min entre detecção orbital e alerta terrestre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47472" y="5394960"/>
            <a:ext cx="2267712" cy="1298448"/>
          </a:xfrm>
          <a:prstGeom prst="rect">
            <a:avLst/>
          </a:prstGeom>
          <a:solidFill>
            <a:srgbClr val="111A2E"/>
          </a:solidFill>
          <a:ln w="9525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8912" y="5468112"/>
            <a:ext cx="365760" cy="36576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896112" y="5532120"/>
            <a:ext cx="1664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6B35"/>
                </a:solidFill>
                <a:latin typeface="Calibri"/>
              </a:rPr>
              <a:t>Incêndios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585216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506088"/>
                </a:solidFill>
                <a:latin typeface="Calibri"/>
              </a:rPr>
              <a:t>MODIS · VIIRS · INPE — 18h de antecedência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15768" y="5394960"/>
            <a:ext cx="2267712" cy="1298448"/>
          </a:xfrm>
          <a:prstGeom prst="rect">
            <a:avLst/>
          </a:prstGeom>
          <a:solidFill>
            <a:srgbClr val="111A2E"/>
          </a:solidFill>
          <a:ln w="9525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07208" y="5468112"/>
            <a:ext cx="365760" cy="36576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3264408" y="5532120"/>
            <a:ext cx="1664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FA9FF"/>
                </a:solidFill>
                <a:latin typeface="Calibri"/>
              </a:rPr>
              <a:t>Ciclones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825496" y="585216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506088"/>
                </a:solidFill>
                <a:latin typeface="Calibri"/>
              </a:rPr>
              <a:t>GOES · Sentinel — trajetória D+7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084064" y="5394960"/>
            <a:ext cx="2267712" cy="1298448"/>
          </a:xfrm>
          <a:prstGeom prst="rect">
            <a:avLst/>
          </a:prstGeom>
          <a:solidFill>
            <a:srgbClr val="111A2E"/>
          </a:solidFill>
          <a:ln w="9525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75504" y="5468112"/>
            <a:ext cx="365760" cy="365760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5632704" y="5532120"/>
            <a:ext cx="1664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EE0C2"/>
                </a:solidFill>
                <a:latin typeface="Calibri"/>
              </a:rPr>
              <a:t>Enchentes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93792" y="585216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506088"/>
                </a:solidFill>
                <a:latin typeface="Calibri"/>
              </a:rPr>
              <a:t>NOAA precip. · bacia hidrográfica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452360" y="5394960"/>
            <a:ext cx="2267712" cy="1298448"/>
          </a:xfrm>
          <a:prstGeom prst="rect">
            <a:avLst/>
          </a:prstGeom>
          <a:solidFill>
            <a:srgbClr val="111A2E"/>
          </a:solidFill>
          <a:ln w="9525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43800" y="5468112"/>
            <a:ext cx="365760" cy="365760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8001000" y="5532120"/>
            <a:ext cx="1664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B547"/>
                </a:solidFill>
                <a:latin typeface="Calibri"/>
              </a:rPr>
              <a:t>Terremotos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562088" y="585216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506088"/>
                </a:solidFill>
                <a:latin typeface="Calibri"/>
              </a:rPr>
              <a:t>USGS realtime · Richter + localização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820656" y="5394960"/>
            <a:ext cx="2267712" cy="1298448"/>
          </a:xfrm>
          <a:prstGeom prst="rect">
            <a:avLst/>
          </a:prstGeom>
          <a:solidFill>
            <a:srgbClr val="111A2E"/>
          </a:solidFill>
          <a:ln w="9525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912096" y="5468112"/>
            <a:ext cx="365760" cy="365760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10369296" y="5532120"/>
            <a:ext cx="1664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D4FF"/>
                </a:solidFill>
                <a:latin typeface="Calibri"/>
              </a:rPr>
              <a:t>Secas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930384" y="585216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506088"/>
                </a:solidFill>
                <a:latin typeface="Calibri"/>
              </a:rPr>
              <a:t>SMAP soil moisture · índice PDSI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9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75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9144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spc="250">
                <a:solidFill>
                  <a:srgbClr val="506088"/>
                </a:solidFill>
                <a:latin typeface="Calibri"/>
              </a:rPr>
              <a:t>PÚBLICO-ALVO E PERSONA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91440"/>
            <a:ext cx="6035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spc="180">
                <a:solidFill>
                  <a:srgbClr val="506088"/>
                </a:solidFill>
                <a:latin typeface="Calibri"/>
              </a:rPr>
              <a:t>AEGIS · ORBITAL DISASTER INTELLIGENCE · 2026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365760"/>
            <a:ext cx="502920" cy="502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4048" y="38404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D4FF"/>
                </a:solidFill>
                <a:latin typeface="Calibri"/>
              </a:rPr>
              <a:t>Para Quem o AEGIS Foi Construído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98755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A9BC4"/>
                </a:solidFill>
                <a:latin typeface="Calibri"/>
              </a:rPr>
              <a:t>Definição da persona principal e dos públicos beneficiados pela solução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" y="1371600"/>
            <a:ext cx="5349240" cy="5166360"/>
          </a:xfrm>
          <a:prstGeom prst="rect">
            <a:avLst/>
          </a:prstGeom>
          <a:solidFill>
            <a:srgbClr val="111A2E"/>
          </a:solidFill>
          <a:ln w="9525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7472" y="1371600"/>
            <a:ext cx="5349240" cy="36576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146304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060912"/>
                </a:solidFill>
                <a:latin typeface="Calibri"/>
              </a:rPr>
              <a:t>PERSONA PRINCIPAL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6048" y="1408176"/>
            <a:ext cx="292608" cy="29260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75488" y="1874519"/>
            <a:ext cx="5074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D4FF"/>
                </a:solidFill>
                <a:latin typeface="Calibri"/>
              </a:rPr>
              <a:t>GESTORA DE OPERAÇÕES DE EMERGÊNCIA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2265679"/>
            <a:ext cx="5074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0F4FF"/>
                </a:solidFill>
                <a:latin typeface="Calibri"/>
              </a:rPr>
              <a:t>Coordenação de Defesa Civil · Resposta a Desastres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2545079"/>
            <a:ext cx="5074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A9BC4"/>
                </a:solidFill>
                <a:latin typeface="Calibri"/>
              </a:rPr>
              <a:t>Formação: Meteorologia · Gestão de Riscos Climáticos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2796539"/>
            <a:ext cx="5074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" b="0">
                <a:solidFill>
                  <a:srgbClr val="F0F4FF"/>
                </a:solidFill>
                <a:latin typeface="Calibri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2860547"/>
            <a:ext cx="5074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6B35"/>
                </a:solidFill>
                <a:latin typeface="Calibri"/>
              </a:rPr>
              <a:t>DESAFIO: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" y="3125977"/>
            <a:ext cx="5074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0F4FF"/>
                </a:solidFill>
                <a:latin typeface="Calibri"/>
              </a:rPr>
              <a:t>Recebe alertas tardios. Quando confirma
o risco, o tempo de mobilização já foi.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" y="3391407"/>
            <a:ext cx="5074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" b="0">
                <a:solidFill>
                  <a:srgbClr val="F0F4FF"/>
                </a:solidFill>
                <a:latin typeface="Calibri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" y="3455415"/>
            <a:ext cx="5074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5EE0C2"/>
                </a:solidFill>
                <a:latin typeface="Calibri"/>
              </a:rPr>
              <a:t>MOTIVAÇÃO: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" y="3720845"/>
            <a:ext cx="5074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0F4FF"/>
                </a:solidFill>
                <a:latin typeface="Calibri"/>
              </a:rPr>
              <a:t>Salvar vidas antes do desastre, não durante.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3986275"/>
            <a:ext cx="5074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" b="0">
                <a:solidFill>
                  <a:srgbClr val="F0F4FF"/>
                </a:solidFill>
                <a:latin typeface="Calibri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" y="4050283"/>
            <a:ext cx="5074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B547"/>
                </a:solidFill>
                <a:latin typeface="Calibri"/>
              </a:rPr>
              <a:t>NECESSIDADE: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" y="4315713"/>
            <a:ext cx="5074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0F4FF"/>
                </a:solidFill>
                <a:latin typeface="Calibri"/>
              </a:rPr>
              <a:t>Interface que traduza dados orbitais
em ações claras, sem expertise técnica
em sensoriamento remoto.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870448" y="1371600"/>
            <a:ext cx="5989320" cy="1261872"/>
          </a:xfrm>
          <a:prstGeom prst="rect">
            <a:avLst/>
          </a:prstGeom>
          <a:solidFill>
            <a:srgbClr val="111A2E"/>
          </a:solidFill>
          <a:ln w="9525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1508760"/>
            <a:ext cx="438912" cy="438912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510528" y="144475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D4FF"/>
                </a:solidFill>
                <a:latin typeface="Calibri"/>
              </a:rPr>
              <a:t>AGÊNCIAS GOV.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10528" y="1938528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A9BC4"/>
                </a:solidFill>
                <a:latin typeface="Calibri"/>
              </a:rPr>
              <a:t>CEMADEN · Defesa Civil
IBAMA · Prefeituras em risco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870448" y="2724912"/>
            <a:ext cx="5989320" cy="1261872"/>
          </a:xfrm>
          <a:prstGeom prst="rect">
            <a:avLst/>
          </a:prstGeom>
          <a:solidFill>
            <a:srgbClr val="111A2E"/>
          </a:solidFill>
          <a:ln w="9525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1888" y="2862072"/>
            <a:ext cx="438912" cy="438912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510528" y="2798064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6B35"/>
                </a:solidFill>
                <a:latin typeface="Calibri"/>
              </a:rPr>
              <a:t>ORG. HUMANITÁRIAS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10528" y="3291840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A9BC4"/>
                </a:solidFill>
                <a:latin typeface="Calibri"/>
              </a:rPr>
              <a:t>Cruz Vermelha · UNOCHA
IFRC · equipes de campo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870448" y="4078224"/>
            <a:ext cx="5989320" cy="1261872"/>
          </a:xfrm>
          <a:prstGeom prst="rect">
            <a:avLst/>
          </a:prstGeom>
          <a:solidFill>
            <a:srgbClr val="111A2E"/>
          </a:solidFill>
          <a:ln w="9525">
            <a:solidFill>
              <a:srgbClr val="5EE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61888" y="4215384"/>
            <a:ext cx="438912" cy="438912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510528" y="4151376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EE0C2"/>
                </a:solidFill>
                <a:latin typeface="Calibri"/>
              </a:rPr>
              <a:t>MUNICÍPIOS
EM RISCO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10528" y="4645152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A9BC4"/>
                </a:solidFill>
                <a:latin typeface="Calibri"/>
              </a:rPr>
              <a:t>Zonas de enchente, deslizamento
Seca · planejamento evacuação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870448" y="5431536"/>
            <a:ext cx="5989320" cy="1261872"/>
          </a:xfrm>
          <a:prstGeom prst="rect">
            <a:avLst/>
          </a:prstGeom>
          <a:solidFill>
            <a:srgbClr val="111A2E"/>
          </a:solidFill>
          <a:ln w="9525">
            <a:solidFill>
              <a:srgbClr val="3F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61888" y="5568696"/>
            <a:ext cx="438912" cy="438912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6510528" y="550468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FA9FF"/>
                </a:solidFill>
                <a:latin typeface="Calibri"/>
              </a:rPr>
              <a:t>PESQUISADORES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10528" y="5998464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A9BC4"/>
                </a:solidFill>
                <a:latin typeface="Calibri"/>
              </a:rPr>
              <a:t>Análise de padrões orbitais
Data Science · publicações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9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75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9144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spc="250">
                <a:solidFill>
                  <a:srgbClr val="506088"/>
                </a:solidFill>
                <a:latin typeface="Calibri"/>
              </a:rPr>
              <a:t>PROTÓTIPO — TELAS DA SOLUÇÃO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91440"/>
            <a:ext cx="6035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spc="180">
                <a:solidFill>
                  <a:srgbClr val="506088"/>
                </a:solidFill>
                <a:latin typeface="Calibri"/>
              </a:rPr>
              <a:t>AEGIS · ORBITAL DISASTER INTELLIGENCE · 2026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365760"/>
            <a:ext cx="502920" cy="502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4048" y="38404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D4FF"/>
                </a:solidFill>
                <a:latin typeface="Calibri"/>
              </a:rPr>
              <a:t>Dashboard AEGIS — Mapa Global e Storm Track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98755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A9BC4"/>
                </a:solidFill>
                <a:latin typeface="Calibri"/>
              </a:rPr>
              <a:t>Inserir screenshot do dashboard após deploy Vercel  ·  URL disponível na conclusão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" y="1371600"/>
            <a:ext cx="7223760" cy="4206240"/>
          </a:xfrm>
          <a:prstGeom prst="rect">
            <a:avLst/>
          </a:prstGeom>
          <a:solidFill>
            <a:srgbClr val="111A2E"/>
          </a:solidFill>
          <a:ln w="9525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2834640"/>
            <a:ext cx="7223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06088"/>
                </a:solidFill>
                <a:latin typeface="Calibri"/>
              </a:rPr>
              <a:t>[ SCREENSHOT ]
MAPA GLOBAL DE EVENTOS ATIVOS
Dados reais NASA EONET · D3.js · TopoJSON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1828800"/>
            <a:ext cx="822960" cy="82296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7726679" y="1371600"/>
            <a:ext cx="4160520" cy="4206240"/>
          </a:xfrm>
          <a:prstGeom prst="rect">
            <a:avLst/>
          </a:prstGeom>
          <a:solidFill>
            <a:srgbClr val="111A2E"/>
          </a:solidFill>
          <a:ln w="9525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26679" y="1371600"/>
            <a:ext cx="4160520" cy="36576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45552" y="1463040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060912"/>
                </a:solidFill>
                <a:latin typeface="Calibri"/>
              </a:rPr>
              <a:t>TELA 1 — MAPA GLOBAL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45552" y="1719072"/>
            <a:ext cx="3886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A9BC4"/>
                </a:solidFill>
                <a:latin typeface="Calibri"/>
              </a:rPr>
              <a:t>Exibe todos os desastres ativos rastreados por satélite em tempo real via NASA EONET. Cada ponto representa um evento geolocalizado com cor indicando o nível de risco calculado pelo modelo XGBoost.
Storm tracks mostram trajetória passada (sólido) e projeção D+7 (pontilhado) para eventos móveis como ciclones.
O operador identifica focos críticos sem interpretar relatórios.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7472" y="5687568"/>
            <a:ext cx="11503152" cy="960120"/>
          </a:xfrm>
          <a:prstGeom prst="rect">
            <a:avLst/>
          </a:prstGeom>
          <a:solidFill>
            <a:srgbClr val="111A2E"/>
          </a:solidFill>
          <a:ln w="9525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" y="5779008"/>
            <a:ext cx="384048" cy="38404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14400" y="577900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6B35"/>
                </a:solidFill>
                <a:latin typeface="Calibri"/>
              </a:rPr>
              <a:t>TELA 2 — TIMELINE SCRUBBER (D-7 a D+7)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605332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8A9BC4"/>
                </a:solidFill>
                <a:latin typeface="Calibri"/>
              </a:rPr>
              <a:t>Permite navegar no tempo: histórico e previsão futura do evento. Base para decisões de evacuação e alocação de recursos de emergência.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9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75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9144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spc="250">
                <a:solidFill>
                  <a:srgbClr val="506088"/>
                </a:solidFill>
                <a:latin typeface="Calibri"/>
              </a:rPr>
              <a:t>PROTÓTIPO — TELAS DA SOLUÇÃO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91440"/>
            <a:ext cx="6035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spc="180">
                <a:solidFill>
                  <a:srgbClr val="506088"/>
                </a:solidFill>
                <a:latin typeface="Calibri"/>
              </a:rPr>
              <a:t>AEGIS · ORBITAL DISASTER INTELLIGENCE · 2026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365760"/>
            <a:ext cx="502920" cy="502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4048" y="38404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D4FF"/>
                </a:solidFill>
                <a:latin typeface="Calibri"/>
              </a:rPr>
              <a:t>Dashboard AEGIS — Event Card e Risk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98755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A9BC4"/>
                </a:solidFill>
                <a:latin typeface="Calibri"/>
              </a:rPr>
              <a:t>Inserir screenshots após deploy Vercel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" y="1371600"/>
            <a:ext cx="5486400" cy="4251960"/>
          </a:xfrm>
          <a:prstGeom prst="rect">
            <a:avLst/>
          </a:prstGeom>
          <a:solidFill>
            <a:srgbClr val="111A2E"/>
          </a:solidFill>
          <a:ln w="9525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7440" y="2194560"/>
            <a:ext cx="822960" cy="8229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47472" y="320040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06088"/>
                </a:solidFill>
                <a:latin typeface="Calibri"/>
              </a:rPr>
              <a:t>[ SCREENSHOT ]
EVENT CARD EXPANDIDO
Risk Score · Sparkline · Ações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89320" y="1371600"/>
            <a:ext cx="5870448" cy="4251960"/>
          </a:xfrm>
          <a:prstGeom prst="rect">
            <a:avLst/>
          </a:prstGeom>
          <a:solidFill>
            <a:srgbClr val="111A2E"/>
          </a:solidFill>
          <a:ln w="9525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0" y="2194560"/>
            <a:ext cx="822960" cy="8229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989320" y="3200400"/>
            <a:ext cx="587044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06088"/>
                </a:solidFill>
                <a:latin typeface="Calibri"/>
              </a:rPr>
              <a:t>[ SCREENSHOT ]
RISK GAUGE + FORECAST CHART
XGBoost · LSTM D+7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7472" y="5760720"/>
            <a:ext cx="5577840" cy="914400"/>
          </a:xfrm>
          <a:prstGeom prst="rect">
            <a:avLst/>
          </a:prstGeom>
          <a:solidFill>
            <a:srgbClr val="111A2E"/>
          </a:solidFill>
          <a:ln w="9525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7472" y="5760720"/>
            <a:ext cx="38100" cy="914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632" y="583387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D4FF"/>
                </a:solidFill>
                <a:latin typeface="Calibri"/>
              </a:rPr>
              <a:t>TELA 3 — EVENT CARD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" y="612648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8A9BC4"/>
                </a:solidFill>
                <a:latin typeface="Calibri"/>
              </a:rPr>
              <a:t>Risk Score XGBoost (0–100) · Sparkline 7 dias · Coordenadas exatas · Fonte orbital · Botões Dispatch / Monitor / Archive. Elimina navegação entre múltiplos sistemas.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89320" y="5760720"/>
            <a:ext cx="5577840" cy="914400"/>
          </a:xfrm>
          <a:prstGeom prst="rect">
            <a:avLst/>
          </a:prstGeom>
          <a:solidFill>
            <a:srgbClr val="111A2E"/>
          </a:solidFill>
          <a:ln w="9525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89320" y="5760720"/>
            <a:ext cx="38100" cy="914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583387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6B35"/>
                </a:solidFill>
                <a:latin typeface="Calibri"/>
              </a:rPr>
              <a:t>TELA 4 — RISK GAUGE + FORECAST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612648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8A9BC4"/>
                </a:solidFill>
                <a:latin typeface="Calibri"/>
              </a:rPr>
              <a:t>Gauge de risco em tempo real + Forecast Chart com previsão D+7 gerada pelo LSTM. Base para decisões de evacuação e alocação de recursos de emergência.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9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75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9144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spc="250">
                <a:solidFill>
                  <a:srgbClr val="506088"/>
                </a:solidFill>
                <a:latin typeface="Calibri"/>
              </a:rPr>
              <a:t>ARQUITETURA DA SOLUÇÃO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91440"/>
            <a:ext cx="6035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spc="180">
                <a:solidFill>
                  <a:srgbClr val="506088"/>
                </a:solidFill>
                <a:latin typeface="Calibri"/>
              </a:rPr>
              <a:t>AEGIS · ORBITAL DISASTER INTELLIGENCE · 2026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365760"/>
            <a:ext cx="502920" cy="502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4048" y="38404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D4FF"/>
                </a:solidFill>
                <a:latin typeface="Calibri"/>
              </a:rPr>
              <a:t>Arquitetura Oracle Cloud Infrastructure (OCI)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98755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A9BC4"/>
                </a:solidFill>
                <a:latin typeface="Calibri"/>
              </a:rPr>
              <a:t>Pipeline escalável: coleta orbital → ML → API → consumo — high availability, sem vendor lock-in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1280160"/>
            <a:ext cx="11841480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9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75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9144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spc="250">
                <a:solidFill>
                  <a:srgbClr val="506088"/>
                </a:solidFill>
                <a:latin typeface="Calibri"/>
              </a:rPr>
              <a:t>TECNOLOGIAS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91440"/>
            <a:ext cx="6035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spc="180">
                <a:solidFill>
                  <a:srgbClr val="506088"/>
                </a:solidFill>
                <a:latin typeface="Calibri"/>
              </a:rPr>
              <a:t>AEGIS · ORBITAL DISASTER INTELLIGENCE · 2026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365760"/>
            <a:ext cx="502920" cy="502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4048" y="38404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D4FF"/>
                </a:solidFill>
                <a:latin typeface="Calibri"/>
              </a:rPr>
              <a:t>Stack Tecnológico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98755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A9BC4"/>
                </a:solidFill>
                <a:latin typeface="Calibri"/>
              </a:rPr>
              <a:t>Cada tecnologia escolhida por critérios de escalabilidade, custo e aderência ao problema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" y="1508760"/>
            <a:ext cx="3822191" cy="2423160"/>
          </a:xfrm>
          <a:prstGeom prst="rect">
            <a:avLst/>
          </a:prstGeom>
          <a:solidFill>
            <a:srgbClr val="111A2E"/>
          </a:solidFill>
          <a:ln w="9525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7472" y="1508760"/>
            <a:ext cx="3822191" cy="40233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1545336"/>
            <a:ext cx="329184" cy="32918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59536" y="1591056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060912"/>
                </a:solidFill>
                <a:latin typeface="Calibri"/>
              </a:rPr>
              <a:t>DADOS ORBITAIS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984248"/>
            <a:ext cx="3657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0F4FF"/>
                </a:solidFill>
                <a:latin typeface="Calibri"/>
              </a:rPr>
              <a:t>›  NASA EONET API v3 (open data, sem auth)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423160"/>
            <a:ext cx="3657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0F4FF"/>
                </a:solidFill>
                <a:latin typeface="Calibri"/>
              </a:rPr>
              <a:t>›  NOAA Climate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862072"/>
            <a:ext cx="3657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0F4FF"/>
                </a:solidFill>
                <a:latin typeface="Calibri"/>
              </a:rPr>
              <a:t>›  INPE BDQueimadas (focos de incêndio)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300984"/>
            <a:ext cx="3657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0F4FF"/>
                </a:solidFill>
                <a:latin typeface="Calibri"/>
              </a:rPr>
              <a:t>›  Copernicus Sentinel Hub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06824" y="1508760"/>
            <a:ext cx="3822191" cy="2423160"/>
          </a:xfrm>
          <a:prstGeom prst="rect">
            <a:avLst/>
          </a:prstGeom>
          <a:solidFill>
            <a:srgbClr val="111A2E"/>
          </a:solidFill>
          <a:ln w="9525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06824" y="1508760"/>
            <a:ext cx="3822191" cy="40233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8264" y="1545336"/>
            <a:ext cx="329184" cy="32918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818888" y="1591056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060912"/>
                </a:solidFill>
                <a:latin typeface="Calibri"/>
              </a:rPr>
              <a:t>ANÁLISE + ML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16552" y="1984248"/>
            <a:ext cx="3657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0F4FF"/>
                </a:solidFill>
                <a:latin typeface="Calibri"/>
              </a:rPr>
              <a:t>›  Python · pandas · numpy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16552" y="2423160"/>
            <a:ext cx="3657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0F4FF"/>
                </a:solidFill>
                <a:latin typeface="Calibri"/>
              </a:rPr>
              <a:t>›  XGBoost  →  Risk Score por evento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16552" y="2862072"/>
            <a:ext cx="3657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0F4FF"/>
                </a:solidFill>
                <a:latin typeface="Calibri"/>
              </a:rPr>
              <a:t>›  LSTM (TensorFlow)  →  Previsão D+7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16552" y="3300984"/>
            <a:ext cx="3657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0F4FF"/>
                </a:solidFill>
                <a:latin typeface="Calibri"/>
              </a:rPr>
              <a:t>›  SHAP  →  Explicabilidade dos modelos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66176" y="1508760"/>
            <a:ext cx="3822191" cy="2423160"/>
          </a:xfrm>
          <a:prstGeom prst="rect">
            <a:avLst/>
          </a:prstGeom>
          <a:solidFill>
            <a:srgbClr val="111A2E"/>
          </a:solidFill>
          <a:ln w="9525">
            <a:solidFill>
              <a:srgbClr val="5EE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66176" y="1508760"/>
            <a:ext cx="3822191" cy="402336"/>
          </a:xfrm>
          <a:prstGeom prst="rect">
            <a:avLst/>
          </a:prstGeom>
          <a:solidFill>
            <a:srgbClr val="5EE0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57616" y="1545336"/>
            <a:ext cx="329184" cy="32918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778240" y="1591056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060912"/>
                </a:solidFill>
                <a:latin typeface="Calibri"/>
              </a:rPr>
              <a:t>ORACLE CLOUD (OCI)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75904" y="1984248"/>
            <a:ext cx="3657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0F4FF"/>
                </a:solidFill>
                <a:latin typeface="Calibri"/>
              </a:rPr>
              <a:t>›  OCI Data Flow (Apache Spark ETL)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75904" y="2423160"/>
            <a:ext cx="3657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0F4FF"/>
                </a:solidFill>
                <a:latin typeface="Calibri"/>
              </a:rPr>
              <a:t>›  OCI Data Science + Model Catalog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75904" y="2862072"/>
            <a:ext cx="3657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0F4FF"/>
                </a:solidFill>
                <a:latin typeface="Calibri"/>
              </a:rPr>
              <a:t>›  Oracle Autonomous DB (ATP)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75904" y="3300984"/>
            <a:ext cx="3657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0F4FF"/>
                </a:solidFill>
                <a:latin typeface="Calibri"/>
              </a:rPr>
              <a:t>›  OCI Streaming · OCI Functions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47472" y="4069080"/>
            <a:ext cx="3822191" cy="2423160"/>
          </a:xfrm>
          <a:prstGeom prst="rect">
            <a:avLst/>
          </a:prstGeom>
          <a:solidFill>
            <a:srgbClr val="111A2E"/>
          </a:solidFill>
          <a:ln w="9525">
            <a:solidFill>
              <a:srgbClr val="3F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47472" y="4069080"/>
            <a:ext cx="3822191" cy="402336"/>
          </a:xfrm>
          <a:prstGeom prst="rect">
            <a:avLst/>
          </a:prstGeom>
          <a:solidFill>
            <a:srgbClr val="3FA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912" y="4105656"/>
            <a:ext cx="329184" cy="329184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859536" y="4151376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060912"/>
                </a:solidFill>
                <a:latin typeface="Calibri"/>
              </a:rPr>
              <a:t>BACKEND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4544568"/>
            <a:ext cx="3657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0F4FF"/>
                </a:solidFill>
                <a:latin typeface="Calibri"/>
              </a:rPr>
              <a:t>›  FastAPI + Docker + uvicorn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4983480"/>
            <a:ext cx="3657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0F4FF"/>
                </a:solidFill>
                <a:latin typeface="Calibri"/>
              </a:rPr>
              <a:t>›  OCI Container Engine (OKE)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5422392"/>
            <a:ext cx="3657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0F4FF"/>
                </a:solidFill>
                <a:latin typeface="Calibri"/>
              </a:rPr>
              <a:t>›  OCI API Gateway (auth · rate limit)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5861304"/>
            <a:ext cx="3657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0F4FF"/>
                </a:solidFill>
                <a:latin typeface="Calibri"/>
              </a:rPr>
              <a:t>›  OCI Object Storage (raw events)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06824" y="4069080"/>
            <a:ext cx="3822191" cy="2423160"/>
          </a:xfrm>
          <a:prstGeom prst="rect">
            <a:avLst/>
          </a:prstGeom>
          <a:solidFill>
            <a:srgbClr val="111A2E"/>
          </a:solidFill>
          <a:ln w="9525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306824" y="4069080"/>
            <a:ext cx="3822191" cy="40233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98264" y="4105656"/>
            <a:ext cx="329184" cy="329184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4818888" y="4151376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060912"/>
                </a:solidFill>
                <a:latin typeface="Calibri"/>
              </a:rPr>
              <a:t>FRONTEND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16552" y="4544568"/>
            <a:ext cx="3657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0F4FF"/>
                </a:solidFill>
                <a:latin typeface="Calibri"/>
              </a:rPr>
              <a:t>›  React 19 · TypeScript · Vite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16552" y="4983480"/>
            <a:ext cx="3657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0F4FF"/>
                </a:solidFill>
                <a:latin typeface="Calibri"/>
              </a:rPr>
              <a:t>›  D3.js · D3-geo · TopoJSON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16552" y="5422392"/>
            <a:ext cx="3657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0F4FF"/>
                </a:solidFill>
                <a:latin typeface="Calibri"/>
              </a:rPr>
              <a:t>›  Vercel (CDN global)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416552" y="5861304"/>
            <a:ext cx="3657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0F4FF"/>
                </a:solidFill>
                <a:latin typeface="Calibri"/>
              </a:rPr>
              <a:t>›  Space Grotesk · JetBrains Mono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266176" y="4069080"/>
            <a:ext cx="3822191" cy="2423160"/>
          </a:xfrm>
          <a:prstGeom prst="rect">
            <a:avLst/>
          </a:prstGeom>
          <a:solidFill>
            <a:srgbClr val="111A2E"/>
          </a:solidFill>
          <a:ln w="9525">
            <a:solidFill>
              <a:srgbClr val="FFB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266176" y="4069080"/>
            <a:ext cx="3822191" cy="402336"/>
          </a:xfrm>
          <a:prstGeom prst="rect">
            <a:avLst/>
          </a:prstGeom>
          <a:solidFill>
            <a:srgbClr val="FFB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57616" y="4105656"/>
            <a:ext cx="329184" cy="329184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8778240" y="4151376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060912"/>
                </a:solidFill>
                <a:latin typeface="Calibri"/>
              </a:rPr>
              <a:t>BI / ANALYTICS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75904" y="4544568"/>
            <a:ext cx="3657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0F4FF"/>
                </a:solidFill>
                <a:latin typeface="Calibri"/>
              </a:rPr>
              <a:t>›  Oracle Analytics Cloud (OAC)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75904" y="4983480"/>
            <a:ext cx="3657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0F4FF"/>
                </a:solidFill>
                <a:latin typeface="Calibri"/>
              </a:rPr>
              <a:t>›  Plotly · matplotlib · seaborn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75904" y="5422392"/>
            <a:ext cx="3657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0F4FF"/>
                </a:solidFill>
                <a:latin typeface="Calibri"/>
              </a:rPr>
              <a:t>›  Jupyter Notebooks (EDA)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75904" y="5861304"/>
            <a:ext cx="3657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0F4FF"/>
                </a:solidFill>
                <a:latin typeface="Calibri"/>
              </a:rPr>
              <a:t>›  Relatórios para gestores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9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75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9144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spc="250">
                <a:solidFill>
                  <a:srgbClr val="506088"/>
                </a:solidFill>
                <a:latin typeface="Calibri"/>
              </a:rPr>
              <a:t>IMPACTOS DA SOLUÇÃO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91440"/>
            <a:ext cx="6035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spc="180">
                <a:solidFill>
                  <a:srgbClr val="506088"/>
                </a:solidFill>
                <a:latin typeface="Calibri"/>
              </a:rPr>
              <a:t>AEGIS · ORBITAL DISASTER INTELLIGENCE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8404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D4FF"/>
                </a:solidFill>
                <a:latin typeface="Calibri"/>
              </a:rPr>
              <a:t>O Impacto do AEGIS no Mundo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98755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A9BC4"/>
                </a:solidFill>
                <a:latin typeface="Calibri"/>
              </a:rPr>
              <a:t>Três dimensões de impacto: ambiental, comunitário e socioeconômico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" y="1371600"/>
            <a:ext cx="3822191" cy="4526280"/>
          </a:xfrm>
          <a:prstGeom prst="rect">
            <a:avLst/>
          </a:prstGeom>
          <a:solidFill>
            <a:srgbClr val="111A2E"/>
          </a:solidFill>
          <a:ln w="9525">
            <a:solidFill>
              <a:srgbClr val="5EE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7472" y="1371600"/>
            <a:ext cx="3822191" cy="457200"/>
          </a:xfrm>
          <a:prstGeom prst="rect">
            <a:avLst/>
          </a:prstGeom>
          <a:solidFill>
            <a:srgbClr val="5EE0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1426464"/>
            <a:ext cx="329184" cy="3291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59536" y="1463040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60912"/>
                </a:solidFill>
                <a:latin typeface="Calibri"/>
              </a:rPr>
              <a:t>IMPACTOS
AMBIENTAIS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956816"/>
            <a:ext cx="3611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0F4FF"/>
                </a:solidFill>
                <a:latin typeface="Calibri"/>
              </a:rPr>
              <a:t>›  Monitoramento contínuo de focos de
incêndio acelera a resposta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706624"/>
            <a:ext cx="3611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0F4FF"/>
                </a:solidFill>
                <a:latin typeface="Calibri"/>
              </a:rPr>
              <a:t>›  Detecção precoce de secas permite
ações de conservação hídrica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456432"/>
            <a:ext cx="3611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0F4FF"/>
                </a:solidFill>
                <a:latin typeface="Calibri"/>
              </a:rPr>
              <a:t>›  Inteligência orbital para agências
sem infraestrutura própria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206240"/>
            <a:ext cx="3611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0F4FF"/>
                </a:solidFill>
                <a:latin typeface="Calibri"/>
              </a:rPr>
              <a:t>›  MODIS · VIIRS · Sentinel · USGS
integrados em um único painel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06824" y="1371600"/>
            <a:ext cx="3822191" cy="4526280"/>
          </a:xfrm>
          <a:prstGeom prst="rect">
            <a:avLst/>
          </a:prstGeom>
          <a:solidFill>
            <a:srgbClr val="111A2E"/>
          </a:solidFill>
          <a:ln w="9525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06824" y="1371600"/>
            <a:ext cx="3822191" cy="4572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8264" y="1426464"/>
            <a:ext cx="329184" cy="32918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818888" y="1463040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60912"/>
                </a:solidFill>
                <a:latin typeface="Calibri"/>
              </a:rPr>
              <a:t>IMPACTOS
COMUNITÁRIOS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16552" y="1956816"/>
            <a:ext cx="3611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0F4FF"/>
                </a:solidFill>
                <a:latin typeface="Calibri"/>
              </a:rPr>
              <a:t>›  Evacuações com 24–72h de
antecedência reduzem mortes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16552" y="2706624"/>
            <a:ext cx="3611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0F4FF"/>
                </a:solidFill>
                <a:latin typeface="Calibri"/>
              </a:rPr>
              <a:t>›  Gestores: resposta reativa
→ prevenção preditiva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16552" y="3456432"/>
            <a:ext cx="3611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0F4FF"/>
                </a:solidFill>
                <a:latin typeface="Calibri"/>
              </a:rPr>
              <a:t>›  Democratiza dados orbitais
para municípios sem recurso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16552" y="4206240"/>
            <a:ext cx="3611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0F4FF"/>
                </a:solidFill>
                <a:latin typeface="Calibri"/>
              </a:rPr>
              <a:t>›  Cruz Vermelha ganha 48h extras
para mobilizar equipes de campo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66176" y="1371600"/>
            <a:ext cx="3822191" cy="4526280"/>
          </a:xfrm>
          <a:prstGeom prst="rect">
            <a:avLst/>
          </a:prstGeom>
          <a:solidFill>
            <a:srgbClr val="111A2E"/>
          </a:solidFill>
          <a:ln w="9525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66176" y="1371600"/>
            <a:ext cx="3822191" cy="457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7616" y="1426464"/>
            <a:ext cx="329184" cy="32918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778240" y="1463040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60912"/>
                </a:solidFill>
                <a:latin typeface="Calibri"/>
              </a:rPr>
              <a:t>IMPACTOS
SOCIOECONÔMICOS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75904" y="1956816"/>
            <a:ext cx="3611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0F4FF"/>
                </a:solidFill>
                <a:latin typeface="Calibri"/>
              </a:rPr>
              <a:t>›  Redução 60–80% no custo de
resposta emergencial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75904" y="2706624"/>
            <a:ext cx="3611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0F4FF"/>
                </a:solidFill>
                <a:latin typeface="Calibri"/>
              </a:rPr>
              <a:t>›  Minimiza perdas com alertas
antes do pico do evento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75904" y="3456432"/>
            <a:ext cx="3611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0F4FF"/>
                </a:solidFill>
                <a:latin typeface="Calibri"/>
              </a:rPr>
              <a:t>›  Open source: qualquer agência
pública pode implantar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75904" y="4206240"/>
            <a:ext cx="3611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0F4FF"/>
                </a:solidFill>
                <a:latin typeface="Calibri"/>
              </a:rPr>
              <a:t>›  OCI: paga só pelo que usa,
sem superdimensionamento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7472" y="6035040"/>
            <a:ext cx="3822191" cy="594360"/>
          </a:xfrm>
          <a:prstGeom prst="rect">
            <a:avLst/>
          </a:prstGeom>
          <a:solidFill>
            <a:srgbClr val="111A2E"/>
          </a:solidFill>
          <a:ln w="9525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6126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D4FF"/>
                </a:solidFill>
                <a:latin typeface="Calibri"/>
              </a:rPr>
              <a:t>ODS 11 · Cidades Sustentáveis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06824" y="6035040"/>
            <a:ext cx="3822191" cy="594360"/>
          </a:xfrm>
          <a:prstGeom prst="rect">
            <a:avLst/>
          </a:prstGeom>
          <a:solidFill>
            <a:srgbClr val="111A2E"/>
          </a:solidFill>
          <a:ln w="9525">
            <a:solidFill>
              <a:srgbClr val="5EE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16552" y="6126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EE0C2"/>
                </a:solidFill>
                <a:latin typeface="Calibri"/>
              </a:rPr>
              <a:t>ODS 13 · Ação Climática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66176" y="6035040"/>
            <a:ext cx="3822191" cy="594360"/>
          </a:xfrm>
          <a:prstGeom prst="rect">
            <a:avLst/>
          </a:prstGeom>
          <a:solidFill>
            <a:srgbClr val="111A2E"/>
          </a:solidFill>
          <a:ln w="9525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75904" y="6126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6B35"/>
                </a:solidFill>
                <a:latin typeface="Calibri"/>
              </a:rPr>
              <a:t>ODS 9 · Inovação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9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75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9144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spc="250">
                <a:solidFill>
                  <a:srgbClr val="506088"/>
                </a:solidFill>
                <a:latin typeface="Calibri"/>
              </a:rPr>
              <a:t>BENEFÍCIOS ESPERADOS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91440"/>
            <a:ext cx="6035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spc="180">
                <a:solidFill>
                  <a:srgbClr val="506088"/>
                </a:solidFill>
                <a:latin typeface="Calibri"/>
              </a:rPr>
              <a:t>AEGIS · ORBITAL DISASTER INTELLIGENCE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8404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D4FF"/>
                </a:solidFill>
                <a:latin typeface="Calibri"/>
              </a:rPr>
              <a:t>Valor Gerado pelo AEGIS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98755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A9BC4"/>
                </a:solidFill>
                <a:latin typeface="Calibri"/>
              </a:rPr>
              <a:t>Cada benefício justificado pelos dados orbitais e pela arquitetura Oracle Cloud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" y="1417320"/>
            <a:ext cx="5742432" cy="1508760"/>
          </a:xfrm>
          <a:prstGeom prst="rect">
            <a:avLst/>
          </a:prstGeom>
          <a:solidFill>
            <a:srgbClr val="111A2E"/>
          </a:solidFill>
          <a:ln w="9525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7472" y="1417320"/>
            <a:ext cx="38100" cy="150876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" y="149047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D4FF"/>
                </a:solidFill>
                <a:latin typeface="Calibri"/>
              </a:rPr>
              <a:t>Eficiência operacional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" y="1874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0F4FF"/>
                </a:solidFill>
                <a:latin typeface="Calibri"/>
              </a:rPr>
              <a:t>›  Alertas em &lt; 5 min vs. 6–24h atuais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2221992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8A9BC4"/>
                </a:solidFill>
                <a:latin typeface="Calibri"/>
              </a:rPr>
              <a:t>   Pipeline orbital automatizado elimina interpretação manual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72784" y="1417320"/>
            <a:ext cx="5742432" cy="1508760"/>
          </a:xfrm>
          <a:prstGeom prst="rect">
            <a:avLst/>
          </a:prstGeom>
          <a:solidFill>
            <a:srgbClr val="111A2E"/>
          </a:solidFill>
          <a:ln w="9525">
            <a:solidFill>
              <a:srgbClr val="5EE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72784" y="1417320"/>
            <a:ext cx="38100" cy="1508760"/>
          </a:xfrm>
          <a:prstGeom prst="rect">
            <a:avLst/>
          </a:prstGeom>
          <a:solidFill>
            <a:srgbClr val="5EE0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9944" y="149047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EE0C2"/>
                </a:solidFill>
                <a:latin typeface="Calibri"/>
              </a:rPr>
              <a:t>Decisão baseada em dados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9944" y="1874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0F4FF"/>
                </a:solidFill>
                <a:latin typeface="Calibri"/>
              </a:rPr>
              <a:t>›  Risk Score + previsão LSTM no mesmo painel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9944" y="2221992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8A9BC4"/>
                </a:solidFill>
                <a:latin typeface="Calibri"/>
              </a:rPr>
              <a:t>   Gestores sem expertise técnica acessam inteligência orbital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7472" y="3017520"/>
            <a:ext cx="5742432" cy="1508760"/>
          </a:xfrm>
          <a:prstGeom prst="rect">
            <a:avLst/>
          </a:prstGeom>
          <a:solidFill>
            <a:srgbClr val="111A2E"/>
          </a:solidFill>
          <a:ln w="9525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7472" y="3017520"/>
            <a:ext cx="38100" cy="15087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4632" y="309067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6B35"/>
                </a:solidFill>
                <a:latin typeface="Calibri"/>
              </a:rPr>
              <a:t>Agilidade na resposta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" y="34747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0F4FF"/>
                </a:solidFill>
                <a:latin typeface="Calibri"/>
              </a:rPr>
              <a:t>›  Timeline D+7 para planejamento antecipado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" y="3822192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8A9BC4"/>
                </a:solidFill>
                <a:latin typeface="Calibri"/>
              </a:rPr>
              <a:t>   Cruz Vermelha: 48h de antecedência para mobilizar equipes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72784" y="3017520"/>
            <a:ext cx="5742432" cy="1508760"/>
          </a:xfrm>
          <a:prstGeom prst="rect">
            <a:avLst/>
          </a:prstGeom>
          <a:solidFill>
            <a:srgbClr val="111A2E"/>
          </a:solidFill>
          <a:ln w="9525">
            <a:solidFill>
              <a:srgbClr val="FFB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72784" y="3017520"/>
            <a:ext cx="38100" cy="1508760"/>
          </a:xfrm>
          <a:prstGeom prst="rect">
            <a:avLst/>
          </a:prstGeom>
          <a:solidFill>
            <a:srgbClr val="FFB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944" y="309067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B547"/>
                </a:solidFill>
                <a:latin typeface="Calibri"/>
              </a:rPr>
              <a:t>Economia de recursos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9944" y="34747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0F4FF"/>
                </a:solidFill>
                <a:latin typeface="Calibri"/>
              </a:rPr>
              <a:t>›  Alocação preditiva de helicópteros e equipes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9944" y="3822192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8A9BC4"/>
                </a:solidFill>
                <a:latin typeface="Calibri"/>
              </a:rPr>
              <a:t>   Sazonalidade EONET permite planejamento orçamentário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7472" y="4617720"/>
            <a:ext cx="5742432" cy="1508760"/>
          </a:xfrm>
          <a:prstGeom prst="rect">
            <a:avLst/>
          </a:prstGeom>
          <a:solidFill>
            <a:srgbClr val="111A2E"/>
          </a:solidFill>
          <a:ln w="9525">
            <a:solidFill>
              <a:srgbClr val="3F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47472" y="4617720"/>
            <a:ext cx="38100" cy="1508760"/>
          </a:xfrm>
          <a:prstGeom prst="rect">
            <a:avLst/>
          </a:prstGeom>
          <a:solidFill>
            <a:srgbClr val="3FA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4632" y="469087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FA9FF"/>
                </a:solidFill>
                <a:latin typeface="Calibri"/>
              </a:rPr>
              <a:t>Open source auditável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4632" y="50749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0F4FF"/>
                </a:solidFill>
                <a:latin typeface="Calibri"/>
              </a:rPr>
              <a:t>›  Dados abertos NASA · sem vendor lock-in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4632" y="5422392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8A9BC4"/>
                </a:solidFill>
                <a:latin typeface="Calibri"/>
              </a:rPr>
              <a:t>   Qualquer agência pública pode replicar e adaptar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72784" y="4617720"/>
            <a:ext cx="5742432" cy="1508760"/>
          </a:xfrm>
          <a:prstGeom prst="rect">
            <a:avLst/>
          </a:prstGeom>
          <a:solidFill>
            <a:srgbClr val="111A2E"/>
          </a:solidFill>
          <a:ln w="9525">
            <a:solidFill>
              <a:srgbClr val="5EE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72784" y="4617720"/>
            <a:ext cx="38100" cy="1508760"/>
          </a:xfrm>
          <a:prstGeom prst="rect">
            <a:avLst/>
          </a:prstGeom>
          <a:solidFill>
            <a:srgbClr val="5EE0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9944" y="469087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EE0C2"/>
                </a:solidFill>
                <a:latin typeface="Calibri"/>
              </a:rPr>
              <a:t>Qualidade de dados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9944" y="50749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0F4FF"/>
                </a:solidFill>
                <a:latin typeface="Calibri"/>
              </a:rPr>
              <a:t>›  MODIS + VIIRS + Sentinel + USGS integrados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9944" y="5422392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8A9BC4"/>
                </a:solidFill>
                <a:latin typeface="Calibri"/>
              </a:rPr>
              <a:t>   Cobertura complementar reduz pontos cegos de detecção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9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75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9144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spc="250">
                <a:solidFill>
                  <a:srgbClr val="506088"/>
                </a:solidFill>
                <a:latin typeface="Calibri"/>
              </a:rPr>
              <a:t>ORIGINALIDADE E INOVAÇÃO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91440"/>
            <a:ext cx="6035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spc="180">
                <a:solidFill>
                  <a:srgbClr val="506088"/>
                </a:solidFill>
                <a:latin typeface="Calibri"/>
              </a:rPr>
              <a:t>AEGIS · ORBITAL DISASTER INTELLIGENCE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8404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D4FF"/>
                </a:solidFill>
                <a:latin typeface="Calibri"/>
              </a:rPr>
              <a:t>O que Diferencia o AEGIS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98755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A9BC4"/>
                </a:solidFill>
                <a:latin typeface="Calibri"/>
              </a:rPr>
              <a:t>Comparativo direto com as soluções existentes hoje no mercado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" y="1417320"/>
            <a:ext cx="2842260" cy="457200"/>
          </a:xfrm>
          <a:prstGeom prst="rect">
            <a:avLst/>
          </a:prstGeom>
          <a:solidFill>
            <a:srgbClr val="25385A"/>
          </a:solidFill>
          <a:ln w="9525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146304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0F4FF"/>
                </a:solidFill>
                <a:latin typeface="Calibri"/>
              </a:rPr>
              <a:t>ASPECTO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417320"/>
            <a:ext cx="3921252" cy="457200"/>
          </a:xfrm>
          <a:prstGeom prst="rect">
            <a:avLst/>
          </a:prstGeom>
          <a:solidFill>
            <a:srgbClr val="25385A"/>
          </a:solidFill>
          <a:ln w="9525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463040"/>
            <a:ext cx="38221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0F4FF"/>
                </a:solidFill>
                <a:latin typeface="Calibri"/>
              </a:rPr>
              <a:t>SOLUÇÕES ATUAIS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0" y="1417320"/>
            <a:ext cx="4533900" cy="457200"/>
          </a:xfrm>
          <a:prstGeom prst="rect">
            <a:avLst/>
          </a:prstGeom>
          <a:solidFill>
            <a:srgbClr val="00D4FF"/>
          </a:solidFill>
          <a:ln w="9525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0" y="1463040"/>
            <a:ext cx="4434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60912"/>
                </a:solidFill>
                <a:latin typeface="Calibri"/>
              </a:rPr>
              <a:t>AEGIS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7472" y="1901952"/>
            <a:ext cx="2842260" cy="504952"/>
          </a:xfrm>
          <a:prstGeom prst="rect">
            <a:avLst/>
          </a:prstGeom>
          <a:solidFill>
            <a:srgbClr val="111A2E"/>
          </a:solidFill>
          <a:ln w="9525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" y="1975104"/>
            <a:ext cx="2743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0F4FF"/>
                </a:solidFill>
                <a:latin typeface="Calibri"/>
              </a:rPr>
              <a:t>Latência do alerta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91840" y="1901952"/>
            <a:ext cx="3921252" cy="504952"/>
          </a:xfrm>
          <a:prstGeom prst="rect">
            <a:avLst/>
          </a:prstGeom>
          <a:solidFill>
            <a:srgbClr val="111A2E"/>
          </a:solidFill>
          <a:ln w="9525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3280" y="1975104"/>
            <a:ext cx="382219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8A9BC4"/>
                </a:solidFill>
                <a:latin typeface="Calibri"/>
              </a:rPr>
              <a:t>6 a 24 horas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0" y="1901952"/>
            <a:ext cx="4533900" cy="504952"/>
          </a:xfrm>
          <a:prstGeom prst="rect">
            <a:avLst/>
          </a:prstGeom>
          <a:solidFill>
            <a:srgbClr val="0A182A"/>
          </a:solidFill>
          <a:ln w="9525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0" y="1975104"/>
            <a:ext cx="4434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00D4FF"/>
                </a:solidFill>
                <a:latin typeface="Calibri"/>
              </a:rPr>
              <a:t>&lt; 5 minutos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7472" y="2432304"/>
            <a:ext cx="2842260" cy="504952"/>
          </a:xfrm>
          <a:prstGeom prst="rect">
            <a:avLst/>
          </a:prstGeom>
          <a:solidFill>
            <a:srgbClr val="111A2E"/>
          </a:solidFill>
          <a:ln w="9525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" y="2505456"/>
            <a:ext cx="2743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0F4FF"/>
                </a:solidFill>
                <a:latin typeface="Calibri"/>
              </a:rPr>
              <a:t>Dados utilizados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91840" y="2432304"/>
            <a:ext cx="3921252" cy="504952"/>
          </a:xfrm>
          <a:prstGeom prst="rect">
            <a:avLst/>
          </a:prstGeom>
          <a:solidFill>
            <a:srgbClr val="111A2E"/>
          </a:solidFill>
          <a:ln w="9525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83280" y="2505456"/>
            <a:ext cx="382219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8A9BC4"/>
                </a:solidFill>
                <a:latin typeface="Calibri"/>
              </a:rPr>
              <a:t>Relatórios manuais e PDFs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0" y="2432304"/>
            <a:ext cx="4533900" cy="504952"/>
          </a:xfrm>
          <a:prstGeom prst="rect">
            <a:avLst/>
          </a:prstGeom>
          <a:solidFill>
            <a:srgbClr val="0A182A"/>
          </a:solidFill>
          <a:ln w="9525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06640" y="2505456"/>
            <a:ext cx="4434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00D4FF"/>
                </a:solidFill>
                <a:latin typeface="Calibri"/>
              </a:rPr>
              <a:t>APIs de satélite em tempo real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7472" y="2962656"/>
            <a:ext cx="2842260" cy="504952"/>
          </a:xfrm>
          <a:prstGeom prst="rect">
            <a:avLst/>
          </a:prstGeom>
          <a:solidFill>
            <a:srgbClr val="111A2E"/>
          </a:solidFill>
          <a:ln w="9525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" y="3035808"/>
            <a:ext cx="2743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0F4FF"/>
                </a:solidFill>
                <a:latin typeface="Calibri"/>
              </a:rPr>
              <a:t>Modelo preditivo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91840" y="2962656"/>
            <a:ext cx="3921252" cy="504952"/>
          </a:xfrm>
          <a:prstGeom prst="rect">
            <a:avLst/>
          </a:prstGeom>
          <a:solidFill>
            <a:srgbClr val="111A2E"/>
          </a:solidFill>
          <a:ln w="9525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83280" y="3035808"/>
            <a:ext cx="382219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8A9BC4"/>
                </a:solidFill>
                <a:latin typeface="Calibri"/>
              </a:rPr>
              <a:t>Reativo — só após o evento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0" y="2962656"/>
            <a:ext cx="4533900" cy="504952"/>
          </a:xfrm>
          <a:prstGeom prst="rect">
            <a:avLst/>
          </a:prstGeom>
          <a:solidFill>
            <a:srgbClr val="0A182A"/>
          </a:solidFill>
          <a:ln w="9525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06640" y="3035808"/>
            <a:ext cx="4434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00D4FF"/>
                </a:solidFill>
                <a:latin typeface="Calibri"/>
              </a:rPr>
              <a:t>Preditivo — até 72h antes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7472" y="3493008"/>
            <a:ext cx="2842260" cy="504952"/>
          </a:xfrm>
          <a:prstGeom prst="rect">
            <a:avLst/>
          </a:prstGeom>
          <a:solidFill>
            <a:srgbClr val="111A2E"/>
          </a:solidFill>
          <a:ln w="9525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8912" y="3566160"/>
            <a:ext cx="2743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0F4FF"/>
                </a:solidFill>
                <a:latin typeface="Calibri"/>
              </a:rPr>
              <a:t>Acesso e custo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91840" y="3493008"/>
            <a:ext cx="3921252" cy="504952"/>
          </a:xfrm>
          <a:prstGeom prst="rect">
            <a:avLst/>
          </a:prstGeom>
          <a:solidFill>
            <a:srgbClr val="111A2E"/>
          </a:solidFill>
          <a:ln w="9525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83280" y="3566160"/>
            <a:ext cx="382219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8A9BC4"/>
                </a:solidFill>
                <a:latin typeface="Calibri"/>
              </a:rPr>
              <a:t>Sistemas proprietários caros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0" y="3493008"/>
            <a:ext cx="4533900" cy="504952"/>
          </a:xfrm>
          <a:prstGeom prst="rect">
            <a:avLst/>
          </a:prstGeom>
          <a:solidFill>
            <a:srgbClr val="0A182A"/>
          </a:solidFill>
          <a:ln w="9525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06640" y="3566160"/>
            <a:ext cx="4434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00D4FF"/>
                </a:solidFill>
                <a:latin typeface="Calibri"/>
              </a:rPr>
              <a:t>Open source + dados NASA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47472" y="4023360"/>
            <a:ext cx="2842260" cy="504952"/>
          </a:xfrm>
          <a:prstGeom prst="rect">
            <a:avLst/>
          </a:prstGeom>
          <a:solidFill>
            <a:srgbClr val="111A2E"/>
          </a:solidFill>
          <a:ln w="9525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8912" y="4096512"/>
            <a:ext cx="2743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0F4FF"/>
                </a:solidFill>
                <a:latin typeface="Calibri"/>
              </a:rPr>
              <a:t>Interface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91840" y="4023360"/>
            <a:ext cx="3921252" cy="504952"/>
          </a:xfrm>
          <a:prstGeom prst="rect">
            <a:avLst/>
          </a:prstGeom>
          <a:solidFill>
            <a:srgbClr val="111A2E"/>
          </a:solidFill>
          <a:ln w="9525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383280" y="4096512"/>
            <a:ext cx="382219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8A9BC4"/>
                </a:solidFill>
                <a:latin typeface="Calibri"/>
              </a:rPr>
              <a:t>Planilhas e painéis técnicos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15200" y="4023360"/>
            <a:ext cx="4533900" cy="504952"/>
          </a:xfrm>
          <a:prstGeom prst="rect">
            <a:avLst/>
          </a:prstGeom>
          <a:solidFill>
            <a:srgbClr val="0A182A"/>
          </a:solidFill>
          <a:ln w="9525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06640" y="4096512"/>
            <a:ext cx="4434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00D4FF"/>
                </a:solidFill>
                <a:latin typeface="Calibri"/>
              </a:rPr>
              <a:t>Dashboard missão p/ gestores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47472" y="4553712"/>
            <a:ext cx="2842260" cy="504952"/>
          </a:xfrm>
          <a:prstGeom prst="rect">
            <a:avLst/>
          </a:prstGeom>
          <a:solidFill>
            <a:srgbClr val="111A2E"/>
          </a:solidFill>
          <a:ln w="9525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8912" y="4626864"/>
            <a:ext cx="2743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0F4FF"/>
                </a:solidFill>
                <a:latin typeface="Calibri"/>
              </a:rPr>
              <a:t>Integração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91840" y="4553712"/>
            <a:ext cx="3921252" cy="504952"/>
          </a:xfrm>
          <a:prstGeom prst="rect">
            <a:avLst/>
          </a:prstGeom>
          <a:solidFill>
            <a:srgbClr val="111A2E"/>
          </a:solidFill>
          <a:ln w="9525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383280" y="4626864"/>
            <a:ext cx="382219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8A9BC4"/>
                </a:solidFill>
                <a:latin typeface="Calibri"/>
              </a:rPr>
              <a:t>Silos por agência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315200" y="4553712"/>
            <a:ext cx="4533900" cy="504952"/>
          </a:xfrm>
          <a:prstGeom prst="rect">
            <a:avLst/>
          </a:prstGeom>
          <a:solidFill>
            <a:srgbClr val="0A182A"/>
          </a:solidFill>
          <a:ln w="9525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406640" y="4626864"/>
            <a:ext cx="4434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00D4FF"/>
                </a:solidFill>
                <a:latin typeface="Calibri"/>
              </a:rPr>
              <a:t>EONET + NOAA + INPE unificados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47472" y="5084064"/>
            <a:ext cx="2842260" cy="504952"/>
          </a:xfrm>
          <a:prstGeom prst="rect">
            <a:avLst/>
          </a:prstGeom>
          <a:solidFill>
            <a:srgbClr val="111A2E"/>
          </a:solidFill>
          <a:ln w="9525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38912" y="5157216"/>
            <a:ext cx="2743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0F4FF"/>
                </a:solidFill>
                <a:latin typeface="Calibri"/>
              </a:rPr>
              <a:t>Escalabilidade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291840" y="5084064"/>
            <a:ext cx="3921252" cy="504952"/>
          </a:xfrm>
          <a:prstGeom prst="rect">
            <a:avLst/>
          </a:prstGeom>
          <a:solidFill>
            <a:srgbClr val="111A2E"/>
          </a:solidFill>
          <a:ln w="9525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383280" y="5157216"/>
            <a:ext cx="382219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8A9BC4"/>
                </a:solidFill>
                <a:latin typeface="Calibri"/>
              </a:rPr>
              <a:t>On-premise, difícil expansão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315200" y="5084064"/>
            <a:ext cx="4533900" cy="504952"/>
          </a:xfrm>
          <a:prstGeom prst="rect">
            <a:avLst/>
          </a:prstGeom>
          <a:solidFill>
            <a:srgbClr val="0A182A"/>
          </a:solidFill>
          <a:ln w="9525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406640" y="5157216"/>
            <a:ext cx="4434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00D4FF"/>
                </a:solidFill>
                <a:latin typeface="Calibri"/>
              </a:rPr>
              <a:t>OCI — paga pelo uso · HA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9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75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435836" y="3009828"/>
            <a:ext cx="19050" cy="19050"/>
          </a:xfrm>
          <a:prstGeom prst="rect">
            <a:avLst/>
          </a:prstGeom>
          <a:solidFill>
            <a:srgbClr val="506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502098" y="645868"/>
            <a:ext cx="19050" cy="19050"/>
          </a:xfrm>
          <a:prstGeom prst="rect">
            <a:avLst/>
          </a:prstGeom>
          <a:solidFill>
            <a:srgbClr val="506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279583" y="5390829"/>
            <a:ext cx="19050" cy="1905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90968" y="2542932"/>
            <a:ext cx="19050" cy="19050"/>
          </a:xfrm>
          <a:prstGeom prst="rect">
            <a:avLst/>
          </a:prstGeom>
          <a:solidFill>
            <a:srgbClr val="506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49807" y="5642499"/>
            <a:ext cx="19050" cy="19050"/>
          </a:xfrm>
          <a:prstGeom prst="rect">
            <a:avLst/>
          </a:prstGeom>
          <a:solidFill>
            <a:srgbClr val="506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70425" y="3803342"/>
            <a:ext cx="19050" cy="1905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090226" y="4331954"/>
            <a:ext cx="19050" cy="19050"/>
          </a:xfrm>
          <a:prstGeom prst="rect">
            <a:avLst/>
          </a:prstGeom>
          <a:solidFill>
            <a:srgbClr val="506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22272" y="6657047"/>
            <a:ext cx="19050" cy="19050"/>
          </a:xfrm>
          <a:prstGeom prst="rect">
            <a:avLst/>
          </a:prstGeom>
          <a:solidFill>
            <a:srgbClr val="506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489814" y="1334832"/>
            <a:ext cx="19050" cy="19050"/>
          </a:xfrm>
          <a:prstGeom prst="rect">
            <a:avLst/>
          </a:prstGeom>
          <a:solidFill>
            <a:srgbClr val="506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4042" y="1058117"/>
            <a:ext cx="19050" cy="19050"/>
          </a:xfrm>
          <a:prstGeom prst="rect">
            <a:avLst/>
          </a:prstGeom>
          <a:solidFill>
            <a:srgbClr val="506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079913" y="6635181"/>
            <a:ext cx="19050" cy="19050"/>
          </a:xfrm>
          <a:prstGeom prst="rect">
            <a:avLst/>
          </a:prstGeom>
          <a:solidFill>
            <a:srgbClr val="506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16531" y="3220213"/>
            <a:ext cx="19050" cy="1905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583963" y="3262384"/>
            <a:ext cx="19050" cy="1905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66168" y="2997987"/>
            <a:ext cx="19050" cy="19050"/>
          </a:xfrm>
          <a:prstGeom prst="rect">
            <a:avLst/>
          </a:prstGeom>
          <a:solidFill>
            <a:srgbClr val="506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537418" y="2142210"/>
            <a:ext cx="19050" cy="19050"/>
          </a:xfrm>
          <a:prstGeom prst="rect">
            <a:avLst/>
          </a:prstGeom>
          <a:solidFill>
            <a:srgbClr val="506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811441" y="2657326"/>
            <a:ext cx="19050" cy="1905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320777" y="958422"/>
            <a:ext cx="19050" cy="1905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758" y="5396727"/>
            <a:ext cx="19050" cy="19050"/>
          </a:xfrm>
          <a:prstGeom prst="rect">
            <a:avLst/>
          </a:prstGeom>
          <a:solidFill>
            <a:srgbClr val="506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597161" y="5354239"/>
            <a:ext cx="19050" cy="19050"/>
          </a:xfrm>
          <a:prstGeom prst="rect">
            <a:avLst/>
          </a:prstGeom>
          <a:solidFill>
            <a:srgbClr val="506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933919" y="958727"/>
            <a:ext cx="19050" cy="1905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48965" y="3230777"/>
            <a:ext cx="19050" cy="19050"/>
          </a:xfrm>
          <a:prstGeom prst="rect">
            <a:avLst/>
          </a:prstGeom>
          <a:solidFill>
            <a:srgbClr val="506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326632" y="4352898"/>
            <a:ext cx="19050" cy="19050"/>
          </a:xfrm>
          <a:prstGeom prst="rect">
            <a:avLst/>
          </a:prstGeom>
          <a:solidFill>
            <a:srgbClr val="506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817683" y="2084489"/>
            <a:ext cx="19050" cy="1905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324325" y="1471621"/>
            <a:ext cx="19050" cy="19050"/>
          </a:xfrm>
          <a:prstGeom prst="rect">
            <a:avLst/>
          </a:prstGeom>
          <a:solidFill>
            <a:srgbClr val="506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404430" y="1604356"/>
            <a:ext cx="19050" cy="1905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430546" y="2013465"/>
            <a:ext cx="19050" cy="19050"/>
          </a:xfrm>
          <a:prstGeom prst="rect">
            <a:avLst/>
          </a:prstGeom>
          <a:solidFill>
            <a:srgbClr val="506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791166" y="5375973"/>
            <a:ext cx="19050" cy="19050"/>
          </a:xfrm>
          <a:prstGeom prst="rect">
            <a:avLst/>
          </a:prstGeom>
          <a:solidFill>
            <a:srgbClr val="506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954544" y="5582551"/>
            <a:ext cx="19050" cy="1905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76898" y="617548"/>
            <a:ext cx="19050" cy="19050"/>
          </a:xfrm>
          <a:prstGeom prst="rect">
            <a:avLst/>
          </a:prstGeom>
          <a:solidFill>
            <a:srgbClr val="506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631066" y="1106001"/>
            <a:ext cx="19050" cy="19050"/>
          </a:xfrm>
          <a:prstGeom prst="rect">
            <a:avLst/>
          </a:prstGeom>
          <a:solidFill>
            <a:srgbClr val="506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856942" y="4775365"/>
            <a:ext cx="19050" cy="19050"/>
          </a:xfrm>
          <a:prstGeom prst="rect">
            <a:avLst/>
          </a:prstGeom>
          <a:solidFill>
            <a:srgbClr val="506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645294" y="2067769"/>
            <a:ext cx="19050" cy="19050"/>
          </a:xfrm>
          <a:prstGeom prst="rect">
            <a:avLst/>
          </a:prstGeom>
          <a:solidFill>
            <a:srgbClr val="506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411109" y="601103"/>
            <a:ext cx="19050" cy="1905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1727163" y="6231046"/>
            <a:ext cx="19050" cy="19050"/>
          </a:xfrm>
          <a:prstGeom prst="rect">
            <a:avLst/>
          </a:prstGeom>
          <a:solidFill>
            <a:srgbClr val="506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241405" y="6646611"/>
            <a:ext cx="19050" cy="19050"/>
          </a:xfrm>
          <a:prstGeom prst="rect">
            <a:avLst/>
          </a:prstGeom>
          <a:solidFill>
            <a:srgbClr val="506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740106" y="3081721"/>
            <a:ext cx="19050" cy="1905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175169" y="6190047"/>
            <a:ext cx="19050" cy="19050"/>
          </a:xfrm>
          <a:prstGeom prst="rect">
            <a:avLst/>
          </a:prstGeom>
          <a:solidFill>
            <a:srgbClr val="506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467152" y="2098250"/>
            <a:ext cx="19050" cy="19050"/>
          </a:xfrm>
          <a:prstGeom prst="rect">
            <a:avLst/>
          </a:prstGeom>
          <a:solidFill>
            <a:srgbClr val="506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155159" y="5874660"/>
            <a:ext cx="19050" cy="19050"/>
          </a:xfrm>
          <a:prstGeom prst="rect">
            <a:avLst/>
          </a:prstGeom>
          <a:solidFill>
            <a:srgbClr val="506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771473" y="2963294"/>
            <a:ext cx="19050" cy="19050"/>
          </a:xfrm>
          <a:prstGeom prst="rect">
            <a:avLst/>
          </a:prstGeom>
          <a:solidFill>
            <a:srgbClr val="506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121144" y="4456647"/>
            <a:ext cx="19050" cy="1905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069397" y="285390"/>
            <a:ext cx="19050" cy="19050"/>
          </a:xfrm>
          <a:prstGeom prst="rect">
            <a:avLst/>
          </a:prstGeom>
          <a:solidFill>
            <a:srgbClr val="506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021567" y="991146"/>
            <a:ext cx="19050" cy="1905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164383" y="1169926"/>
            <a:ext cx="19050" cy="19050"/>
          </a:xfrm>
          <a:prstGeom prst="rect">
            <a:avLst/>
          </a:prstGeom>
          <a:solidFill>
            <a:srgbClr val="506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084120" y="2378833"/>
            <a:ext cx="19050" cy="19050"/>
          </a:xfrm>
          <a:prstGeom prst="rect">
            <a:avLst/>
          </a:prstGeom>
          <a:solidFill>
            <a:srgbClr val="506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78017" y="6573799"/>
            <a:ext cx="19050" cy="19050"/>
          </a:xfrm>
          <a:prstGeom prst="rect">
            <a:avLst/>
          </a:prstGeom>
          <a:solidFill>
            <a:srgbClr val="506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542869" y="567362"/>
            <a:ext cx="19050" cy="19050"/>
          </a:xfrm>
          <a:prstGeom prst="rect">
            <a:avLst/>
          </a:prstGeom>
          <a:solidFill>
            <a:srgbClr val="506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982550" y="6431613"/>
            <a:ext cx="19050" cy="19050"/>
          </a:xfrm>
          <a:prstGeom prst="rect">
            <a:avLst/>
          </a:prstGeom>
          <a:solidFill>
            <a:srgbClr val="506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772638" y="1830919"/>
            <a:ext cx="19050" cy="19050"/>
          </a:xfrm>
          <a:prstGeom prst="rect">
            <a:avLst/>
          </a:prstGeom>
          <a:solidFill>
            <a:srgbClr val="506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347879" y="3010054"/>
            <a:ext cx="19050" cy="1905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0073899" y="6145870"/>
            <a:ext cx="19050" cy="1905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754639" y="744612"/>
            <a:ext cx="19050" cy="19050"/>
          </a:xfrm>
          <a:prstGeom prst="rect">
            <a:avLst/>
          </a:prstGeom>
          <a:solidFill>
            <a:srgbClr val="506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428716" y="4522320"/>
            <a:ext cx="19050" cy="19050"/>
          </a:xfrm>
          <a:prstGeom prst="rect">
            <a:avLst/>
          </a:prstGeom>
          <a:solidFill>
            <a:srgbClr val="506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371115" y="738887"/>
            <a:ext cx="19050" cy="19050"/>
          </a:xfrm>
          <a:prstGeom prst="rect">
            <a:avLst/>
          </a:prstGeom>
          <a:solidFill>
            <a:srgbClr val="506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2806698" y="256575"/>
            <a:ext cx="19050" cy="19050"/>
          </a:xfrm>
          <a:prstGeom prst="rect">
            <a:avLst/>
          </a:prstGeom>
          <a:solidFill>
            <a:srgbClr val="506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522171" y="5690698"/>
            <a:ext cx="19050" cy="19050"/>
          </a:xfrm>
          <a:prstGeom prst="rect">
            <a:avLst/>
          </a:prstGeom>
          <a:solidFill>
            <a:srgbClr val="506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866460" y="6534984"/>
            <a:ext cx="19050" cy="1905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279419" y="1755408"/>
            <a:ext cx="19050" cy="19050"/>
          </a:xfrm>
          <a:prstGeom prst="rect">
            <a:avLst/>
          </a:prstGeom>
          <a:solidFill>
            <a:srgbClr val="506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2006848" y="307997"/>
            <a:ext cx="19050" cy="19050"/>
          </a:xfrm>
          <a:prstGeom prst="rect">
            <a:avLst/>
          </a:prstGeom>
          <a:solidFill>
            <a:srgbClr val="506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2098740" y="6115122"/>
            <a:ext cx="19050" cy="19050"/>
          </a:xfrm>
          <a:prstGeom prst="rect">
            <a:avLst/>
          </a:prstGeom>
          <a:solidFill>
            <a:srgbClr val="506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02920" y="685800"/>
            <a:ext cx="11201400" cy="5440680"/>
          </a:xfrm>
          <a:prstGeom prst="rect">
            <a:avLst/>
          </a:prstGeom>
          <a:solidFill>
            <a:srgbClr val="111A2E"/>
          </a:solidFill>
          <a:ln w="9525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02920" y="685800"/>
            <a:ext cx="50800" cy="54406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5" name="Picture 6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777240"/>
            <a:ext cx="1188720" cy="1188720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868680" y="841248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0F4FF"/>
                </a:solidFill>
                <a:latin typeface="Calibri"/>
              </a:rPr>
              <a:t>DADOS DO ESPAÇO,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68680" y="160020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00D4FF"/>
                </a:solidFill>
                <a:latin typeface="Calibri"/>
              </a:rPr>
              <a:t>IMPACTO NA TERRA.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68680" y="246888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8A9BC4"/>
                </a:solidFill>
                <a:latin typeface="Calibri"/>
              </a:rPr>
              <a:t>O AEGIS não inventa dados — transforma o que já existe no espaço em decisões que salvam vidas.
A economia espacial gera 12 TB de dados por dia. O AEGIS é a ponte entre esse dado orbital
e o gestor de defesa civil que precisa agir em minutos, não em horas.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68680" y="3639312"/>
            <a:ext cx="10515600" cy="19050"/>
          </a:xfrm>
          <a:prstGeom prst="rect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868680" y="3767328"/>
            <a:ext cx="3383280" cy="1280160"/>
          </a:xfrm>
          <a:prstGeom prst="rect">
            <a:avLst/>
          </a:prstGeom>
          <a:solidFill>
            <a:srgbClr val="111A2E"/>
          </a:solidFill>
          <a:ln w="9525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1" name="Picture 7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858768"/>
            <a:ext cx="438912" cy="438912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1508760" y="3840480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D4FF"/>
                </a:solidFill>
                <a:latin typeface="Calibri"/>
              </a:rPr>
              <a:t>Dashboard ao vivo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508760" y="4187952"/>
            <a:ext cx="2606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0F4FF"/>
                </a:solidFill>
                <a:latin typeface="Calibri"/>
              </a:rPr>
              <a:t>[URL Vercel após deploy]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389120" y="3767328"/>
            <a:ext cx="3383280" cy="1280160"/>
          </a:xfrm>
          <a:prstGeom prst="rect">
            <a:avLst/>
          </a:prstGeom>
          <a:solidFill>
            <a:srgbClr val="111A2E"/>
          </a:solidFill>
          <a:ln w="9525">
            <a:solidFill>
              <a:srgbClr val="5EE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5" name="Picture 7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560" y="3858768"/>
            <a:ext cx="438912" cy="438912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5029200" y="3840480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EE0C2"/>
                </a:solidFill>
                <a:latin typeface="Calibri"/>
              </a:rPr>
              <a:t>Código open source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029200" y="4187952"/>
            <a:ext cx="2606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0F4FF"/>
                </a:solidFill>
                <a:latin typeface="Calibri"/>
              </a:rPr>
              <a:t>github.com/PedroHSSoares-Dev/gs-2026-aegis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909560" y="3767328"/>
            <a:ext cx="3383280" cy="1280160"/>
          </a:xfrm>
          <a:prstGeom prst="rect">
            <a:avLst/>
          </a:prstGeom>
          <a:solidFill>
            <a:srgbClr val="111A2E"/>
          </a:solidFill>
          <a:ln w="9525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9" name="Picture 7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0" y="3858768"/>
            <a:ext cx="438912" cy="438912"/>
          </a:xfrm>
          <a:prstGeom prst="rect">
            <a:avLst/>
          </a:prstGeom>
        </p:spPr>
      </p:pic>
      <p:sp>
        <p:nvSpPr>
          <p:cNvPr id="80" name="TextBox 79"/>
          <p:cNvSpPr txBox="1"/>
          <p:nvPr/>
        </p:nvSpPr>
        <p:spPr>
          <a:xfrm>
            <a:off x="8549640" y="3840480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6B35"/>
                </a:solidFill>
                <a:latin typeface="Calibri"/>
              </a:rPr>
              <a:t>Pitch YouTube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549640" y="4187952"/>
            <a:ext cx="2606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0F4FF"/>
                </a:solidFill>
                <a:latin typeface="Calibri"/>
              </a:rPr>
              <a:t>[URL após gravação — PÚBLICO]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68680" y="51663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506088"/>
                </a:solidFill>
                <a:latin typeface="Calibri"/>
              </a:rPr>
              <a:t>ODS 11 · ODS 13 · ODS 9  |  2TSCPW · FIAP 2026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68680" y="5468112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8A9BC4"/>
                </a:solidFill>
                <a:latin typeface="Calibri"/>
              </a:rPr>
              <a:t>Emerson dos Santos Silva — RM562033  |  Pedro Henrique Soares — RM562283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